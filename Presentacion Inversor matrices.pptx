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handoutMasterIdLst>
    <p:handoutMasterId r:id="rId24"/>
  </p:handoutMasterIdLst>
  <p:sldIdLst>
    <p:sldId id="423" r:id="rId2"/>
    <p:sldId id="665" r:id="rId3"/>
    <p:sldId id="647" r:id="rId4"/>
    <p:sldId id="648" r:id="rId5"/>
    <p:sldId id="649" r:id="rId6"/>
    <p:sldId id="666" r:id="rId7"/>
    <p:sldId id="650" r:id="rId8"/>
    <p:sldId id="651" r:id="rId9"/>
    <p:sldId id="652" r:id="rId10"/>
    <p:sldId id="653" r:id="rId11"/>
    <p:sldId id="654" r:id="rId12"/>
    <p:sldId id="655" r:id="rId13"/>
    <p:sldId id="656" r:id="rId14"/>
    <p:sldId id="657" r:id="rId15"/>
    <p:sldId id="658" r:id="rId16"/>
    <p:sldId id="659" r:id="rId17"/>
    <p:sldId id="660" r:id="rId18"/>
    <p:sldId id="661" r:id="rId19"/>
    <p:sldId id="662" r:id="rId20"/>
    <p:sldId id="663" r:id="rId21"/>
    <p:sldId id="664" r:id="rId22"/>
  </p:sldIdLst>
  <p:sldSz cx="9144000" cy="6858000" type="screen4x3"/>
  <p:notesSz cx="6761163" cy="9942513"/>
  <p:defaultTextStyle>
    <a:defPPr>
      <a:defRPr lang="es-ES"/>
    </a:defPPr>
    <a:lvl1pPr marL="0" lvl="0"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Lucida Sans Unicode" panose="020B0602030504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Lucida Sans Unicode" panose="020B0602030504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Lucida Sans Unicode" panose="020B0602030504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Lucida Sans Unicode" panose="020B0602030504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Lucida Sans Unicode" panose="020B0602030504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Lucida Sans Unicode" panose="020B0602030504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Lucida Sans Unicode" panose="020B0602030504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Lucida Sans Unicode" panose="020B0602030504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Lucida Sans Unicode" panose="020B0602030504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590F"/>
    <a:srgbClr val="000066"/>
    <a:srgbClr val="8F2407"/>
    <a:srgbClr val="578537"/>
    <a:srgbClr val="335020"/>
    <a:srgbClr val="416529"/>
    <a:srgbClr val="C9EEF7"/>
    <a:srgbClr val="FFFE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588"/>
    <p:restoredTop sz="94798"/>
  </p:normalViewPr>
  <p:slideViewPr>
    <p:cSldViewPr showGuides="1">
      <p:cViewPr varScale="1">
        <p:scale>
          <a:sx n="65" d="100"/>
          <a:sy n="65" d="100"/>
        </p:scale>
        <p:origin x="1740"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2928938" cy="496888"/>
          </a:xfrm>
          <a:prstGeom prst="rect">
            <a:avLst/>
          </a:prstGeom>
          <a:noFill/>
          <a:ln w="9525">
            <a:noFill/>
            <a:miter lim="800000"/>
          </a:ln>
          <a:effectLst/>
        </p:spPr>
        <p:txBody>
          <a:bodyPr vert="horz" wrap="square" lIns="90836" tIns="45418" rIns="90836" bIns="45418" numCol="1" anchor="t" anchorCtr="0" compatLnSpc="1"/>
          <a:lstStyle>
            <a:lvl1pPr algn="l" eaLnBrk="0" hangingPunct="0">
              <a:defRPr sz="1200">
                <a:latin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s-ES_tradnl"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6083" name="Rectangle 3"/>
          <p:cNvSpPr>
            <a:spLocks noGrp="1" noChangeArrowheads="1"/>
          </p:cNvSpPr>
          <p:nvPr>
            <p:ph type="dt" sz="quarter" idx="1"/>
          </p:nvPr>
        </p:nvSpPr>
        <p:spPr bwMode="auto">
          <a:xfrm>
            <a:off x="3830638" y="0"/>
            <a:ext cx="2928938" cy="496888"/>
          </a:xfrm>
          <a:prstGeom prst="rect">
            <a:avLst/>
          </a:prstGeom>
          <a:noFill/>
          <a:ln w="9525">
            <a:noFill/>
            <a:miter lim="800000"/>
          </a:ln>
          <a:effectLst/>
        </p:spPr>
        <p:txBody>
          <a:bodyPr vert="horz" wrap="square" lIns="90836" tIns="45418" rIns="90836" bIns="45418" numCol="1" anchor="t" anchorCtr="0" compatLnSpc="1"/>
          <a:lstStyle>
            <a:lvl1pPr algn="r" eaLnBrk="0" hangingPunct="0">
              <a:defRPr sz="1200">
                <a:latin typeface="Arial" panose="020B0604020202020204" pitchFamily="34" charset="0"/>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2F9A9CD2-8DB1-4D92-BC9C-2814911D5015}" type="datetimeFigureOut">
              <a:rPr kumimoji="0" lang="es-ES_tradnl"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24/06/2026</a:t>
            </a:fld>
            <a:endParaRPr kumimoji="0" lang="es-ES_tradnl"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6084" name="Rectangle 4"/>
          <p:cNvSpPr>
            <a:spLocks noGrp="1" noChangeArrowheads="1"/>
          </p:cNvSpPr>
          <p:nvPr>
            <p:ph type="ftr" sz="quarter" idx="2"/>
          </p:nvPr>
        </p:nvSpPr>
        <p:spPr bwMode="auto">
          <a:xfrm>
            <a:off x="0" y="9444038"/>
            <a:ext cx="2928938" cy="496888"/>
          </a:xfrm>
          <a:prstGeom prst="rect">
            <a:avLst/>
          </a:prstGeom>
          <a:noFill/>
          <a:ln w="9525">
            <a:noFill/>
            <a:miter lim="800000"/>
          </a:ln>
          <a:effectLst/>
        </p:spPr>
        <p:txBody>
          <a:bodyPr vert="horz" wrap="square" lIns="90836" tIns="45418" rIns="90836" bIns="45418" numCol="1" anchor="b" anchorCtr="0" compatLnSpc="1"/>
          <a:lstStyle>
            <a:lvl1pPr algn="l" eaLnBrk="0" hangingPunct="0">
              <a:defRPr sz="1200">
                <a:latin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s-ES_tradnl"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6085" name="Rectangle 5"/>
          <p:cNvSpPr>
            <a:spLocks noGrp="1" noChangeArrowheads="1"/>
          </p:cNvSpPr>
          <p:nvPr>
            <p:ph type="sldNum" sz="quarter" idx="3"/>
          </p:nvPr>
        </p:nvSpPr>
        <p:spPr bwMode="auto">
          <a:xfrm>
            <a:off x="3830638" y="9444038"/>
            <a:ext cx="2928938" cy="496888"/>
          </a:xfrm>
          <a:prstGeom prst="rect">
            <a:avLst/>
          </a:prstGeom>
          <a:noFill/>
          <a:ln w="9525">
            <a:noFill/>
            <a:miter lim="800000"/>
          </a:ln>
          <a:effectLst/>
        </p:spPr>
        <p:txBody>
          <a:bodyPr vert="horz" wrap="square" lIns="90836" tIns="45418" rIns="90836" bIns="45418" numCol="1" anchor="b" anchorCtr="0" compatLnSpc="1"/>
          <a:lstStyle/>
          <a:p>
            <a:pPr lvl="0" algn="r" fontAlgn="base"/>
            <a:fld id="{9A0DB2DC-4C9A-4742-B13C-FB6460FD3503}" type="slidenum">
              <a:rPr lang="es-ES_tradnl" altLang="es-ES" sz="1200" strike="noStrike" noProof="1" dirty="0">
                <a:latin typeface="Arial" panose="020B0604020202020204" pitchFamily="34" charset="0"/>
                <a:ea typeface="+mn-ea"/>
                <a:cs typeface="+mn-cs"/>
              </a:rPr>
              <a:t>‹Nº›</a:t>
            </a:fld>
            <a:endParaRPr lang="es-ES_tradnl" altLang="es-ES" sz="1200" strike="noStrike" noProof="1">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0" y="0"/>
            <a:ext cx="2928938" cy="496888"/>
          </a:xfrm>
          <a:prstGeom prst="rect">
            <a:avLst/>
          </a:prstGeom>
          <a:noFill/>
          <a:ln w="9525">
            <a:noFill/>
            <a:miter lim="800000"/>
          </a:ln>
          <a:effectLst/>
        </p:spPr>
        <p:txBody>
          <a:bodyPr vert="horz" wrap="square" lIns="90836" tIns="45418" rIns="90836" bIns="45418" numCol="1" anchor="t" anchorCtr="0" compatLnSpc="1"/>
          <a:lstStyle>
            <a:lvl1pPr algn="l" eaLnBrk="0" hangingPunct="0">
              <a:defRPr sz="1200">
                <a:latin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s-ES_tradnl"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7107" name="Rectangle 3"/>
          <p:cNvSpPr>
            <a:spLocks noGrp="1" noChangeArrowheads="1"/>
          </p:cNvSpPr>
          <p:nvPr>
            <p:ph type="dt" idx="1"/>
          </p:nvPr>
        </p:nvSpPr>
        <p:spPr bwMode="auto">
          <a:xfrm>
            <a:off x="3830638" y="0"/>
            <a:ext cx="2928938" cy="496888"/>
          </a:xfrm>
          <a:prstGeom prst="rect">
            <a:avLst/>
          </a:prstGeom>
          <a:noFill/>
          <a:ln w="9525">
            <a:noFill/>
            <a:miter lim="800000"/>
          </a:ln>
          <a:effectLst/>
        </p:spPr>
        <p:txBody>
          <a:bodyPr vert="horz" wrap="square" lIns="90836" tIns="45418" rIns="90836" bIns="45418" numCol="1" anchor="t" anchorCtr="0" compatLnSpc="1"/>
          <a:lstStyle>
            <a:lvl1pPr algn="r" eaLnBrk="0" hangingPunct="0">
              <a:defRPr sz="1200">
                <a:latin typeface="Arial" panose="020B0604020202020204" pitchFamily="34" charset="0"/>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A289F446-4D5C-49D8-8F9C-7713154F4EF1}" type="datetimeFigureOut">
              <a:rPr kumimoji="0" lang="es-ES_tradnl"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24/06/2026</a:t>
            </a:fld>
            <a:endParaRPr kumimoji="0" lang="es-ES_tradnl"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4340" name="Rectangle 4"/>
          <p:cNvSpPr>
            <a:spLocks noGrp="1" noRot="1" noChangeAspect="1" noTextEdit="1"/>
          </p:cNvSpPr>
          <p:nvPr>
            <p:ph type="sldImg"/>
          </p:nvPr>
        </p:nvSpPr>
        <p:spPr>
          <a:xfrm>
            <a:off x="895350" y="744538"/>
            <a:ext cx="4972050" cy="3730625"/>
          </a:xfrm>
          <a:prstGeom prst="rect">
            <a:avLst/>
          </a:prstGeom>
          <a:noFill/>
          <a:ln w="9525" cap="flat" cmpd="sng">
            <a:solidFill>
              <a:srgbClr val="000000"/>
            </a:solidFill>
            <a:prstDash val="solid"/>
            <a:miter/>
            <a:headEnd type="none" w="med" len="med"/>
            <a:tailEnd type="none" w="med" len="med"/>
          </a:ln>
        </p:spPr>
      </p:sp>
      <p:sp>
        <p:nvSpPr>
          <p:cNvPr id="47109" name="Rectangle 5"/>
          <p:cNvSpPr>
            <a:spLocks noGrp="1" noChangeArrowheads="1"/>
          </p:cNvSpPr>
          <p:nvPr>
            <p:ph type="body" sz="quarter" idx="3"/>
          </p:nvPr>
        </p:nvSpPr>
        <p:spPr bwMode="auto">
          <a:xfrm>
            <a:off x="676275" y="4722813"/>
            <a:ext cx="5410200" cy="4475163"/>
          </a:xfrm>
          <a:prstGeom prst="rect">
            <a:avLst/>
          </a:prstGeom>
          <a:noFill/>
          <a:ln w="9525">
            <a:noFill/>
            <a:miter lim="800000"/>
          </a:ln>
          <a:effectLst/>
        </p:spPr>
        <p:txBody>
          <a:bodyPr vert="horz" wrap="square" lIns="90836" tIns="45418" rIns="90836" bIns="45418"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s-ES_tradnl"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Haga clic para modificar el estilo de texto del patrón</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s-ES_tradnl"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Segundo nivel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s-ES_tradnl"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Tercer nivel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s-ES_tradnl"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Cuarto nivel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s-ES_tradnl"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Quinto nivel</a:t>
            </a:r>
          </a:p>
        </p:txBody>
      </p:sp>
      <p:sp>
        <p:nvSpPr>
          <p:cNvPr id="47110" name="Rectangle 6"/>
          <p:cNvSpPr>
            <a:spLocks noGrp="1" noChangeArrowheads="1"/>
          </p:cNvSpPr>
          <p:nvPr>
            <p:ph type="ftr" sz="quarter" idx="4"/>
          </p:nvPr>
        </p:nvSpPr>
        <p:spPr bwMode="auto">
          <a:xfrm>
            <a:off x="0" y="9444038"/>
            <a:ext cx="2928938" cy="496888"/>
          </a:xfrm>
          <a:prstGeom prst="rect">
            <a:avLst/>
          </a:prstGeom>
          <a:noFill/>
          <a:ln w="9525">
            <a:noFill/>
            <a:miter lim="800000"/>
          </a:ln>
          <a:effectLst/>
        </p:spPr>
        <p:txBody>
          <a:bodyPr vert="horz" wrap="square" lIns="90836" tIns="45418" rIns="90836" bIns="45418" numCol="1" anchor="b" anchorCtr="0" compatLnSpc="1"/>
          <a:lstStyle>
            <a:lvl1pPr algn="l" eaLnBrk="0" hangingPunct="0">
              <a:defRPr sz="1200">
                <a:latin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s-ES_tradnl"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7111" name="Rectangle 7"/>
          <p:cNvSpPr>
            <a:spLocks noGrp="1" noChangeArrowheads="1"/>
          </p:cNvSpPr>
          <p:nvPr>
            <p:ph type="sldNum" sz="quarter" idx="5"/>
          </p:nvPr>
        </p:nvSpPr>
        <p:spPr bwMode="auto">
          <a:xfrm>
            <a:off x="3830638" y="9444038"/>
            <a:ext cx="2928938" cy="496888"/>
          </a:xfrm>
          <a:prstGeom prst="rect">
            <a:avLst/>
          </a:prstGeom>
          <a:noFill/>
          <a:ln w="9525">
            <a:noFill/>
            <a:miter lim="800000"/>
          </a:ln>
          <a:effectLst/>
        </p:spPr>
        <p:txBody>
          <a:bodyPr vert="horz" wrap="square" lIns="90836" tIns="45418" rIns="90836" bIns="45418" numCol="1" anchor="b" anchorCtr="0" compatLnSpc="1"/>
          <a:lstStyle/>
          <a:p>
            <a:pPr lvl="0" algn="r" fontAlgn="base"/>
            <a:fld id="{9A0DB2DC-4C9A-4742-B13C-FB6460FD3503}" type="slidenum">
              <a:rPr lang="es-ES_tradnl" altLang="es-ES" sz="1200" strike="noStrike" noProof="1" dirty="0">
                <a:latin typeface="Arial" panose="020B0604020202020204" pitchFamily="34" charset="0"/>
                <a:ea typeface="+mn-ea"/>
                <a:cs typeface="+mn-cs"/>
              </a:rPr>
              <a:t>‹Nº›</a:t>
            </a:fld>
            <a:endParaRPr lang="es-ES_tradnl" altLang="es-ES" sz="1200"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Marcador de imagen de diapositiva 1"/>
          <p:cNvSpPr>
            <a:spLocks noGrp="1" noRot="1" noChangeAspect="1" noTextEdit="1"/>
          </p:cNvSpPr>
          <p:nvPr>
            <p:ph type="sldImg"/>
          </p:nvPr>
        </p:nvSpPr>
        <p:spPr>
          <a:ln/>
        </p:spPr>
      </p:sp>
      <p:sp>
        <p:nvSpPr>
          <p:cNvPr id="16386" name="Marcador de notas 2"/>
          <p:cNvSpPr>
            <a:spLocks noGrp="1"/>
          </p:cNvSpPr>
          <p:nvPr>
            <p:ph type="body"/>
          </p:nvPr>
        </p:nvSpPr>
        <p:spPr>
          <a:xfrm>
            <a:off x="676275" y="4722813"/>
            <a:ext cx="5410200" cy="4475162"/>
          </a:xfrm>
          <a:ln/>
        </p:spPr>
        <p:txBody>
          <a:bodyPr wrap="square" lIns="90836" tIns="45418" rIns="90836" bIns="45418" anchor="t" anchorCtr="0"/>
          <a:lstStyle/>
          <a:p>
            <a:pPr lvl="0"/>
            <a:endParaRPr lang="es-ES" altLang="es-ES" dirty="0"/>
          </a:p>
        </p:txBody>
      </p:sp>
      <p:sp>
        <p:nvSpPr>
          <p:cNvPr id="16387" name="Marcador de número de diapositiva 3"/>
          <p:cNvSpPr txBox="1">
            <a:spLocks noGrp="1"/>
          </p:cNvSpPr>
          <p:nvPr>
            <p:ph type="sldNum" sz="quarter"/>
          </p:nvPr>
        </p:nvSpPr>
        <p:spPr>
          <a:xfrm>
            <a:off x="3830638" y="9444038"/>
            <a:ext cx="2928937" cy="496887"/>
          </a:xfrm>
          <a:prstGeom prst="rect">
            <a:avLst/>
          </a:prstGeom>
          <a:noFill/>
          <a:ln w="9525">
            <a:noFill/>
          </a:ln>
        </p:spPr>
        <p:txBody>
          <a:bodyPr vert="horz" wrap="square" lIns="90836" tIns="45418" rIns="90836" bIns="45418" anchor="b" anchorCtr="0"/>
          <a:lstStyle/>
          <a:p>
            <a:pPr lvl="0" algn="r"/>
            <a:fld id="{9A0DB2DC-4C9A-4742-B13C-FB6460FD3503}" type="slidenum">
              <a:rPr lang="es-ES_tradnl" altLang="es-ES" sz="1200" dirty="0">
                <a:latin typeface="Arial" panose="020B0604020202020204" pitchFamily="34" charset="0"/>
              </a:rPr>
              <a:t>1</a:t>
            </a:fld>
            <a:endParaRPr lang="es-ES_tradnl" altLang="es-ES" sz="1200" dirty="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pPr fontAlgn="base"/>
            <a:r>
              <a:rPr lang="es-ES" strike="noStrike" noProof="1"/>
              <a:t>Haga clic para modificar el estilo de título del patrón</a:t>
            </a:r>
            <a:endParaRPr lang="en-US" strike="noStrike" noProof="1"/>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es-ES" strike="noStrike" noProof="1"/>
              <a:t>Haga clic para editar el estilo de subtítulo del patrón</a:t>
            </a:r>
            <a:endParaRPr lang="en-US" strike="noStrike" noProof="1"/>
          </a:p>
        </p:txBody>
      </p:sp>
      <p:sp>
        <p:nvSpPr>
          <p:cNvPr id="7"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eaLnBrk="0" fontAlgn="base" hangingPunct="0">
              <a:spcBef>
                <a:spcPct val="0"/>
              </a:spcBef>
              <a:spcAft>
                <a:spcPct val="0"/>
              </a:spcAft>
              <a:defRPr>
                <a:latin typeface="Lucida Sans Unicode" panose="020B0602030504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35FF2A48-443B-42F7-88B7-373A1DED5E39}" type="datetimeFigureOut">
              <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rPr>
              <a:t>24/06/2026</a:t>
            </a:fld>
            <a:endPar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endParaRPr>
          </a:p>
        </p:txBody>
      </p:sp>
      <p:sp>
        <p:nvSpPr>
          <p:cNvPr id="8"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eaLnBrk="0" fontAlgn="base" hangingPunct="0">
              <a:spcBef>
                <a:spcPct val="0"/>
              </a:spcBef>
              <a:spcAft>
                <a:spcPct val="0"/>
              </a:spcAft>
              <a:defRPr>
                <a:latin typeface="Lucida Sans Unicode" panose="020B0602030504020204" pitchFamily="34" charset="0"/>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endParaRPr>
          </a:p>
        </p:txBody>
      </p:sp>
      <p:sp>
        <p:nvSpPr>
          <p:cNvPr id="9"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p>
            <a:pPr algn="r" fontAlgn="base"/>
            <a:fld id="{9A0DB2DC-4C9A-4742-B13C-FB6460FD3503}" type="slidenum">
              <a:rPr lang="es-ES" altLang="en-US" strike="noStrike" noProof="1" dirty="0">
                <a:latin typeface="Calibri" panose="020F0502020204030204" pitchFamily="34" charset="0"/>
                <a:ea typeface="+mn-ea"/>
                <a:cs typeface="+mn-cs"/>
              </a:rPr>
              <a:t>‹Nº›</a:t>
            </a:fld>
            <a:endParaRPr lang="es-ES" altLang="en-US" strike="noStrike" noProof="1"/>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s-ES" strike="noStrike" noProof="1"/>
              <a:t>Haga clic para modificar el estilo de título del patrón</a:t>
            </a:r>
            <a:endParaRPr lang="en-US" strike="noStrike" noProof="1"/>
          </a:p>
        </p:txBody>
      </p:sp>
      <p:sp>
        <p:nvSpPr>
          <p:cNvPr id="3" name="Content Placeholder 2"/>
          <p:cNvSpPr>
            <a:spLocks noGrp="1"/>
          </p:cNvSpPr>
          <p:nvPr>
            <p:ph idx="1"/>
          </p:nvPr>
        </p:nvSpPr>
        <p:spPr/>
        <p:txBody>
          <a:bodyPr/>
          <a:lstStyle/>
          <a:p>
            <a:pPr lvl="0" fontAlgn="base"/>
            <a:r>
              <a:rPr lang="es-ES" strike="noStrike" noProof="1"/>
              <a:t>Editar el estilo de texto del patrón</a:t>
            </a:r>
          </a:p>
          <a:p>
            <a:pPr lvl="1" fontAlgn="base"/>
            <a:r>
              <a:rPr lang="es-ES" strike="noStrike" noProof="1"/>
              <a:t>Segundo nivel</a:t>
            </a:r>
          </a:p>
          <a:p>
            <a:pPr lvl="2" fontAlgn="base"/>
            <a:r>
              <a:rPr lang="es-ES" strike="noStrike" noProof="1"/>
              <a:t>Tercer nivel</a:t>
            </a:r>
          </a:p>
          <a:p>
            <a:pPr lvl="3" fontAlgn="base"/>
            <a:r>
              <a:rPr lang="es-ES" strike="noStrike" noProof="1"/>
              <a:t>Cuarto nivel</a:t>
            </a:r>
          </a:p>
          <a:p>
            <a:pPr lvl="4" fontAlgn="base"/>
            <a:r>
              <a:rPr lang="es-ES" strike="noStrike" noProof="1"/>
              <a:t>Quinto nivel</a:t>
            </a:r>
            <a:endParaRPr lang="en-US" strike="noStrike" noProof="1"/>
          </a:p>
        </p:txBody>
      </p:sp>
      <p:sp>
        <p:nvSpPr>
          <p:cNvPr id="7"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eaLnBrk="0" fontAlgn="base" hangingPunct="0">
              <a:spcBef>
                <a:spcPct val="0"/>
              </a:spcBef>
              <a:spcAft>
                <a:spcPct val="0"/>
              </a:spcAft>
              <a:defRPr>
                <a:latin typeface="Lucida Sans Unicode" panose="020B0602030504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9360AEA9-9491-4E36-81B9-DC51664DDD21}" type="datetimeFigureOut">
              <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rPr>
              <a:t>24/06/2026</a:t>
            </a:fld>
            <a:endPar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endParaRPr>
          </a:p>
        </p:txBody>
      </p:sp>
      <p:sp>
        <p:nvSpPr>
          <p:cNvPr id="8"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eaLnBrk="0" fontAlgn="base" hangingPunct="0">
              <a:spcBef>
                <a:spcPct val="0"/>
              </a:spcBef>
              <a:spcAft>
                <a:spcPct val="0"/>
              </a:spcAft>
              <a:defRPr>
                <a:latin typeface="Lucida Sans Unicode" panose="020B0602030504020204" pitchFamily="34" charset="0"/>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endParaRPr>
          </a:p>
        </p:txBody>
      </p:sp>
      <p:sp>
        <p:nvSpPr>
          <p:cNvPr id="9"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p>
            <a:pPr algn="r" fontAlgn="base"/>
            <a:fld id="{9A0DB2DC-4C9A-4742-B13C-FB6460FD3503}" type="slidenum">
              <a:rPr lang="es-ES" altLang="en-US" strike="noStrike" noProof="1" dirty="0">
                <a:latin typeface="Calibri" panose="020F0502020204030204" pitchFamily="34" charset="0"/>
                <a:ea typeface="+mn-ea"/>
                <a:cs typeface="+mn-cs"/>
              </a:rPr>
              <a:t>‹Nº›</a:t>
            </a:fld>
            <a:endParaRPr lang="es-ES" altLang="en-US" strike="noStrike" noProof="1"/>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pPr fontAlgn="base"/>
            <a:r>
              <a:rPr lang="es-ES" strike="noStrike" noProof="1"/>
              <a:t>Haga clic para modificar el estilo de título del patrón</a:t>
            </a:r>
            <a:endParaRPr lang="en-US" strike="noStrike" noProof="1"/>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es-ES" strike="noStrike" noProof="1"/>
              <a:t>Editar el estilo de texto del patrón</a:t>
            </a:r>
          </a:p>
        </p:txBody>
      </p:sp>
      <p:sp>
        <p:nvSpPr>
          <p:cNvPr id="7"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eaLnBrk="0" fontAlgn="base" hangingPunct="0">
              <a:spcBef>
                <a:spcPct val="0"/>
              </a:spcBef>
              <a:spcAft>
                <a:spcPct val="0"/>
              </a:spcAft>
              <a:defRPr>
                <a:latin typeface="Lucida Sans Unicode" panose="020B0602030504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CFB14A22-62AC-430D-8258-3BFFA3795957}" type="datetimeFigureOut">
              <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rPr>
              <a:t>24/06/2026</a:t>
            </a:fld>
            <a:endPar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endParaRPr>
          </a:p>
        </p:txBody>
      </p:sp>
      <p:sp>
        <p:nvSpPr>
          <p:cNvPr id="8"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eaLnBrk="0" fontAlgn="base" hangingPunct="0">
              <a:spcBef>
                <a:spcPct val="0"/>
              </a:spcBef>
              <a:spcAft>
                <a:spcPct val="0"/>
              </a:spcAft>
              <a:defRPr>
                <a:latin typeface="Lucida Sans Unicode" panose="020B0602030504020204" pitchFamily="34" charset="0"/>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endParaRPr>
          </a:p>
        </p:txBody>
      </p:sp>
      <p:sp>
        <p:nvSpPr>
          <p:cNvPr id="9"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p>
            <a:pPr algn="r" fontAlgn="base"/>
            <a:fld id="{9A0DB2DC-4C9A-4742-B13C-FB6460FD3503}" type="slidenum">
              <a:rPr lang="es-ES" altLang="en-US" strike="noStrike" noProof="1" dirty="0">
                <a:latin typeface="Calibri" panose="020F0502020204030204" pitchFamily="34" charset="0"/>
                <a:ea typeface="+mn-ea"/>
                <a:cs typeface="+mn-cs"/>
              </a:rPr>
              <a:t>‹Nº›</a:t>
            </a:fld>
            <a:endParaRPr lang="es-ES" altLang="en-US" strike="noStrike" noProof="1"/>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s-ES" strike="noStrike" noProof="1"/>
              <a:t>Haga clic para modificar el estilo de título del patrón</a:t>
            </a:r>
            <a:endParaRPr lang="en-US" strike="noStrike" noProof="1"/>
          </a:p>
        </p:txBody>
      </p:sp>
      <p:sp>
        <p:nvSpPr>
          <p:cNvPr id="3" name="Content Placeholder 2"/>
          <p:cNvSpPr>
            <a:spLocks noGrp="1"/>
          </p:cNvSpPr>
          <p:nvPr>
            <p:ph sz="half" idx="1"/>
          </p:nvPr>
        </p:nvSpPr>
        <p:spPr>
          <a:xfrm>
            <a:off x="628650" y="1825625"/>
            <a:ext cx="3886200" cy="4351338"/>
          </a:xfrm>
        </p:spPr>
        <p:txBody>
          <a:bodyPr/>
          <a:lstStyle/>
          <a:p>
            <a:pPr lvl="0" fontAlgn="base"/>
            <a:r>
              <a:rPr lang="es-ES" strike="noStrike" noProof="1"/>
              <a:t>Editar el estilo de texto del patrón</a:t>
            </a:r>
          </a:p>
          <a:p>
            <a:pPr lvl="1" fontAlgn="base"/>
            <a:r>
              <a:rPr lang="es-ES" strike="noStrike" noProof="1"/>
              <a:t>Segundo nivel</a:t>
            </a:r>
          </a:p>
          <a:p>
            <a:pPr lvl="2" fontAlgn="base"/>
            <a:r>
              <a:rPr lang="es-ES" strike="noStrike" noProof="1"/>
              <a:t>Tercer nivel</a:t>
            </a:r>
          </a:p>
          <a:p>
            <a:pPr lvl="3" fontAlgn="base"/>
            <a:r>
              <a:rPr lang="es-ES" strike="noStrike" noProof="1"/>
              <a:t>Cuarto nivel</a:t>
            </a:r>
          </a:p>
          <a:p>
            <a:pPr lvl="4" fontAlgn="base"/>
            <a:r>
              <a:rPr lang="es-ES" strike="noStrike" noProof="1"/>
              <a:t>Quinto nivel</a:t>
            </a:r>
            <a:endParaRPr lang="en-US" strike="noStrike" noProof="1"/>
          </a:p>
        </p:txBody>
      </p:sp>
      <p:sp>
        <p:nvSpPr>
          <p:cNvPr id="4" name="Content Placeholder 3"/>
          <p:cNvSpPr>
            <a:spLocks noGrp="1"/>
          </p:cNvSpPr>
          <p:nvPr>
            <p:ph sz="half" idx="2"/>
          </p:nvPr>
        </p:nvSpPr>
        <p:spPr>
          <a:xfrm>
            <a:off x="4629150" y="1825625"/>
            <a:ext cx="3886200" cy="4351338"/>
          </a:xfrm>
        </p:spPr>
        <p:txBody>
          <a:bodyPr/>
          <a:lstStyle/>
          <a:p>
            <a:pPr lvl="0" fontAlgn="base"/>
            <a:r>
              <a:rPr lang="es-ES" strike="noStrike" noProof="1"/>
              <a:t>Editar el estilo de texto del patrón</a:t>
            </a:r>
          </a:p>
          <a:p>
            <a:pPr lvl="1" fontAlgn="base"/>
            <a:r>
              <a:rPr lang="es-ES" strike="noStrike" noProof="1"/>
              <a:t>Segundo nivel</a:t>
            </a:r>
          </a:p>
          <a:p>
            <a:pPr lvl="2" fontAlgn="base"/>
            <a:r>
              <a:rPr lang="es-ES" strike="noStrike" noProof="1"/>
              <a:t>Tercer nivel</a:t>
            </a:r>
          </a:p>
          <a:p>
            <a:pPr lvl="3" fontAlgn="base"/>
            <a:r>
              <a:rPr lang="es-ES" strike="noStrike" noProof="1"/>
              <a:t>Cuarto nivel</a:t>
            </a:r>
          </a:p>
          <a:p>
            <a:pPr lvl="4" fontAlgn="base"/>
            <a:r>
              <a:rPr lang="es-ES" strike="noStrike" noProof="1"/>
              <a:t>Quinto nivel</a:t>
            </a:r>
            <a:endParaRPr lang="en-US" strike="noStrike" noProof="1"/>
          </a:p>
        </p:txBody>
      </p:sp>
      <p:sp>
        <p:nvSpPr>
          <p:cNvPr id="7" name="Date Placeholder 4"/>
          <p:cNvSpPr>
            <a:spLocks noGrp="1"/>
          </p:cNvSpPr>
          <p:nvPr>
            <p:ph type="dt" sz="half" idx="12"/>
          </p:nvPr>
        </p:nvSpPr>
        <p:spPr>
          <a:xfrm>
            <a:off x="628650" y="6356350"/>
            <a:ext cx="2057400" cy="365125"/>
          </a:xfrm>
          <a:prstGeom prst="rect">
            <a:avLst/>
          </a:prstGeom>
        </p:spPr>
        <p:txBody>
          <a:bodyPr vert="horz" lIns="91440" tIns="45720" rIns="91440" bIns="45720" rtlCol="0" anchor="ctr"/>
          <a:lstStyle>
            <a:lvl1pPr eaLnBrk="0" fontAlgn="base" hangingPunct="0">
              <a:spcBef>
                <a:spcPct val="0"/>
              </a:spcBef>
              <a:spcAft>
                <a:spcPct val="0"/>
              </a:spcAft>
              <a:defRPr>
                <a:latin typeface="Lucida Sans Unicode" panose="020B0602030504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203632EE-DC52-486C-9509-99A176A64A08}" type="datetimeFigureOut">
              <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rPr>
              <a:t>24/06/2026</a:t>
            </a:fld>
            <a:endPar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endParaRPr>
          </a:p>
        </p:txBody>
      </p:sp>
      <p:sp>
        <p:nvSpPr>
          <p:cNvPr id="8" name="Footer Placeholder 5"/>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eaLnBrk="0" fontAlgn="base" hangingPunct="0">
              <a:spcBef>
                <a:spcPct val="0"/>
              </a:spcBef>
              <a:spcAft>
                <a:spcPct val="0"/>
              </a:spcAft>
              <a:defRPr>
                <a:latin typeface="Lucida Sans Unicode" panose="020B0602030504020204" pitchFamily="34" charset="0"/>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endParaRPr>
          </a:p>
        </p:txBody>
      </p:sp>
      <p:sp>
        <p:nvSpPr>
          <p:cNvPr id="9" name="Slide Number Placeholder 6"/>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p>
            <a:pPr algn="r" fontAlgn="base"/>
            <a:fld id="{9A0DB2DC-4C9A-4742-B13C-FB6460FD3503}" type="slidenum">
              <a:rPr lang="es-ES" altLang="en-US" strike="noStrike" noProof="1" dirty="0">
                <a:latin typeface="Calibri" panose="020F0502020204030204" pitchFamily="34" charset="0"/>
                <a:ea typeface="+mn-ea"/>
                <a:cs typeface="+mn-cs"/>
              </a:rPr>
              <a:t>‹Nº›</a:t>
            </a:fld>
            <a:endParaRPr lang="es-ES" altLang="en-US" strike="noStrike" noProof="1"/>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pPr fontAlgn="base"/>
            <a:r>
              <a:rPr lang="es-ES" strike="noStrike" noProof="1"/>
              <a:t>Haga clic para modificar el estilo de título del patrón</a:t>
            </a:r>
            <a:endParaRPr lang="en-US" strike="noStrike" noProof="1"/>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es-ES" strike="noStrike" noProof="1"/>
              <a:t>Editar el estilo de texto del patrón</a:t>
            </a:r>
          </a:p>
        </p:txBody>
      </p:sp>
      <p:sp>
        <p:nvSpPr>
          <p:cNvPr id="4" name="Content Placeholder 3"/>
          <p:cNvSpPr>
            <a:spLocks noGrp="1"/>
          </p:cNvSpPr>
          <p:nvPr>
            <p:ph sz="half" idx="2"/>
          </p:nvPr>
        </p:nvSpPr>
        <p:spPr>
          <a:xfrm>
            <a:off x="629842" y="2505075"/>
            <a:ext cx="3868340" cy="3684588"/>
          </a:xfrm>
        </p:spPr>
        <p:txBody>
          <a:bodyPr/>
          <a:lstStyle/>
          <a:p>
            <a:pPr lvl="0" fontAlgn="base"/>
            <a:r>
              <a:rPr lang="es-ES" strike="noStrike" noProof="1"/>
              <a:t>Editar el estilo de texto del patrón</a:t>
            </a:r>
          </a:p>
          <a:p>
            <a:pPr lvl="1" fontAlgn="base"/>
            <a:r>
              <a:rPr lang="es-ES" strike="noStrike" noProof="1"/>
              <a:t>Segundo nivel</a:t>
            </a:r>
          </a:p>
          <a:p>
            <a:pPr lvl="2" fontAlgn="base"/>
            <a:r>
              <a:rPr lang="es-ES" strike="noStrike" noProof="1"/>
              <a:t>Tercer nivel</a:t>
            </a:r>
          </a:p>
          <a:p>
            <a:pPr lvl="3" fontAlgn="base"/>
            <a:r>
              <a:rPr lang="es-ES" strike="noStrike" noProof="1"/>
              <a:t>Cuarto nivel</a:t>
            </a:r>
          </a:p>
          <a:p>
            <a:pPr lvl="4" fontAlgn="base"/>
            <a:r>
              <a:rPr lang="es-ES" strike="noStrike" noProof="1"/>
              <a:t>Quinto nivel</a:t>
            </a:r>
            <a:endParaRPr lang="en-US" strike="noStrike" noProof="1"/>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es-ES" strike="noStrike" noProof="1"/>
              <a:t>Editar el estilo de texto del patrón</a:t>
            </a:r>
          </a:p>
        </p:txBody>
      </p:sp>
      <p:sp>
        <p:nvSpPr>
          <p:cNvPr id="6" name="Content Placeholder 5"/>
          <p:cNvSpPr>
            <a:spLocks noGrp="1"/>
          </p:cNvSpPr>
          <p:nvPr>
            <p:ph sz="quarter" idx="4"/>
          </p:nvPr>
        </p:nvSpPr>
        <p:spPr>
          <a:xfrm>
            <a:off x="4629150" y="2505075"/>
            <a:ext cx="3887391" cy="3684588"/>
          </a:xfrm>
        </p:spPr>
        <p:txBody>
          <a:bodyPr/>
          <a:lstStyle/>
          <a:p>
            <a:pPr lvl="0" fontAlgn="base"/>
            <a:r>
              <a:rPr lang="es-ES" strike="noStrike" noProof="1"/>
              <a:t>Editar el estilo de texto del patrón</a:t>
            </a:r>
          </a:p>
          <a:p>
            <a:pPr lvl="1" fontAlgn="base"/>
            <a:r>
              <a:rPr lang="es-ES" strike="noStrike" noProof="1"/>
              <a:t>Segundo nivel</a:t>
            </a:r>
          </a:p>
          <a:p>
            <a:pPr lvl="2" fontAlgn="base"/>
            <a:r>
              <a:rPr lang="es-ES" strike="noStrike" noProof="1"/>
              <a:t>Tercer nivel</a:t>
            </a:r>
          </a:p>
          <a:p>
            <a:pPr lvl="3" fontAlgn="base"/>
            <a:r>
              <a:rPr lang="es-ES" strike="noStrike" noProof="1"/>
              <a:t>Cuarto nivel</a:t>
            </a:r>
          </a:p>
          <a:p>
            <a:pPr lvl="4" fontAlgn="base"/>
            <a:r>
              <a:rPr lang="es-ES" strike="noStrike" noProof="1"/>
              <a:t>Quinto nivel</a:t>
            </a:r>
            <a:endParaRPr lang="en-US" strike="noStrike" noProof="1"/>
          </a:p>
        </p:txBody>
      </p:sp>
      <p:sp>
        <p:nvSpPr>
          <p:cNvPr id="7" name="Date Placeholder 6"/>
          <p:cNvSpPr>
            <a:spLocks noGrp="1"/>
          </p:cNvSpPr>
          <p:nvPr>
            <p:ph type="dt" sz="half" idx="12"/>
          </p:nvPr>
        </p:nvSpPr>
        <p:spPr>
          <a:xfrm>
            <a:off x="628650" y="6356350"/>
            <a:ext cx="2057400" cy="365125"/>
          </a:xfrm>
          <a:prstGeom prst="rect">
            <a:avLst/>
          </a:prstGeom>
        </p:spPr>
        <p:txBody>
          <a:bodyPr vert="horz" lIns="91440" tIns="45720" rIns="91440" bIns="45720" rtlCol="0" anchor="ctr"/>
          <a:lstStyle>
            <a:lvl1pPr eaLnBrk="0" fontAlgn="base" hangingPunct="0">
              <a:spcBef>
                <a:spcPct val="0"/>
              </a:spcBef>
              <a:spcAft>
                <a:spcPct val="0"/>
              </a:spcAft>
              <a:defRPr>
                <a:latin typeface="Lucida Sans Unicode" panose="020B0602030504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08BF4D9F-0DF7-4483-9491-49B001A21FFF}" type="datetimeFigureOut">
              <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rPr>
              <a:t>24/06/2026</a:t>
            </a:fld>
            <a:endPar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endParaRPr>
          </a:p>
        </p:txBody>
      </p:sp>
      <p:sp>
        <p:nvSpPr>
          <p:cNvPr id="8" name="Footer Placeholder 7"/>
          <p:cNvSpPr>
            <a:spLocks noGrp="1"/>
          </p:cNvSpPr>
          <p:nvPr>
            <p:ph type="ftr" sz="quarter" idx="13"/>
          </p:nvPr>
        </p:nvSpPr>
        <p:spPr>
          <a:xfrm>
            <a:off x="3028950" y="6356350"/>
            <a:ext cx="3086100" cy="365125"/>
          </a:xfrm>
          <a:prstGeom prst="rect">
            <a:avLst/>
          </a:prstGeom>
        </p:spPr>
        <p:txBody>
          <a:bodyPr vert="horz" lIns="91440" tIns="45720" rIns="91440" bIns="45720" rtlCol="0" anchor="ctr"/>
          <a:lstStyle>
            <a:lvl1pPr eaLnBrk="0" fontAlgn="base" hangingPunct="0">
              <a:spcBef>
                <a:spcPct val="0"/>
              </a:spcBef>
              <a:spcAft>
                <a:spcPct val="0"/>
              </a:spcAft>
              <a:defRPr>
                <a:latin typeface="Lucida Sans Unicode" panose="020B0602030504020204" pitchFamily="34" charset="0"/>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endParaRPr>
          </a:p>
        </p:txBody>
      </p:sp>
      <p:sp>
        <p:nvSpPr>
          <p:cNvPr id="9" name="Slide Number Placeholder 8"/>
          <p:cNvSpPr>
            <a:spLocks noGrp="1"/>
          </p:cNvSpPr>
          <p:nvPr>
            <p:ph type="sldNum" sz="quarter" idx="14"/>
          </p:nvPr>
        </p:nvSpPr>
        <p:spPr>
          <a:xfrm>
            <a:off x="6457950" y="6356350"/>
            <a:ext cx="2057400" cy="365125"/>
          </a:xfrm>
          <a:prstGeom prst="rect">
            <a:avLst/>
          </a:prstGeom>
        </p:spPr>
        <p:txBody>
          <a:bodyPr vert="horz" wrap="square" lIns="91440" tIns="45720" rIns="91440" bIns="45720" numCol="1" anchor="ctr" anchorCtr="0" compatLnSpc="1"/>
          <a:lstStyle/>
          <a:p>
            <a:pPr algn="r" fontAlgn="base"/>
            <a:fld id="{9A0DB2DC-4C9A-4742-B13C-FB6460FD3503}" type="slidenum">
              <a:rPr lang="es-ES" altLang="en-US" strike="noStrike" noProof="1" dirty="0">
                <a:latin typeface="Calibri" panose="020F0502020204030204" pitchFamily="34" charset="0"/>
                <a:ea typeface="+mn-ea"/>
                <a:cs typeface="+mn-cs"/>
              </a:rPr>
              <a:t>‹Nº›</a:t>
            </a:fld>
            <a:endParaRPr lang="es-ES" altLang="en-US" strike="noStrike" noProof="1"/>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s-ES" strike="noStrike" noProof="1"/>
              <a:t>Haga clic para modificar el estilo de título del patrón</a:t>
            </a:r>
            <a:endParaRPr lang="en-US" strike="noStrike" noProof="1"/>
          </a:p>
        </p:txBody>
      </p:sp>
      <p:sp>
        <p:nvSpPr>
          <p:cNvPr id="7" name="Date Placeholder 2"/>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eaLnBrk="0" fontAlgn="base" hangingPunct="0">
              <a:spcBef>
                <a:spcPct val="0"/>
              </a:spcBef>
              <a:spcAft>
                <a:spcPct val="0"/>
              </a:spcAft>
              <a:defRPr>
                <a:latin typeface="Lucida Sans Unicode" panose="020B0602030504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D83A7A97-8C3E-43E9-AE64-5611319E9D7E}" type="datetimeFigureOut">
              <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rPr>
              <a:t>24/06/2026</a:t>
            </a:fld>
            <a:endPar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endParaRPr>
          </a:p>
        </p:txBody>
      </p:sp>
      <p:sp>
        <p:nvSpPr>
          <p:cNvPr id="8" name="Footer Placeholder 3"/>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eaLnBrk="0" fontAlgn="base" hangingPunct="0">
              <a:spcBef>
                <a:spcPct val="0"/>
              </a:spcBef>
              <a:spcAft>
                <a:spcPct val="0"/>
              </a:spcAft>
              <a:defRPr>
                <a:latin typeface="Lucida Sans Unicode" panose="020B0602030504020204" pitchFamily="34" charset="0"/>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endParaRPr>
          </a:p>
        </p:txBody>
      </p:sp>
      <p:sp>
        <p:nvSpPr>
          <p:cNvPr id="9" name="Slide Number Placeholder 4"/>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p>
            <a:pPr algn="r" fontAlgn="base"/>
            <a:fld id="{9A0DB2DC-4C9A-4742-B13C-FB6460FD3503}" type="slidenum">
              <a:rPr lang="es-ES" altLang="en-US" strike="noStrike" noProof="1" dirty="0">
                <a:latin typeface="Calibri" panose="020F0502020204030204" pitchFamily="34" charset="0"/>
                <a:ea typeface="+mn-ea"/>
                <a:cs typeface="+mn-cs"/>
              </a:rPr>
              <a:t>‹Nº›</a:t>
            </a:fld>
            <a:endParaRPr lang="es-ES" altLang="en-US" strike="noStrike" noProof="1"/>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bg>
      <p:bgPr>
        <a:blipFill rotWithShape="0">
          <a:blip r:embed="rId2"/>
          <a:stretch>
            <a:fillRect/>
          </a:stretch>
        </a:blipFill>
        <a:effectLst/>
      </p:bgPr>
    </p:bg>
    <p:spTree>
      <p:nvGrpSpPr>
        <p:cNvPr id="1" name=""/>
        <p:cNvGrpSpPr/>
        <p:nvPr/>
      </p:nvGrpSpPr>
      <p:grpSpPr>
        <a:xfrm>
          <a:off x="0" y="0"/>
          <a:ext cx="0" cy="0"/>
          <a:chOff x="0" y="0"/>
          <a:chExt cx="0" cy="0"/>
        </a:xfrm>
      </p:grpSpPr>
      <p:sp>
        <p:nvSpPr>
          <p:cNvPr id="7" name="Date Placeholder 1"/>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eaLnBrk="0" fontAlgn="base" hangingPunct="0">
              <a:spcBef>
                <a:spcPct val="0"/>
              </a:spcBef>
              <a:spcAft>
                <a:spcPct val="0"/>
              </a:spcAft>
              <a:defRPr>
                <a:latin typeface="Lucida Sans Unicode" panose="020B0602030504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4148E2B3-1212-4174-B2DD-A45F3E14175F}" type="datetimeFigureOut">
              <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rPr>
              <a:t>24/06/2026</a:t>
            </a:fld>
            <a:endPar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endParaRPr>
          </a:p>
        </p:txBody>
      </p:sp>
      <p:sp>
        <p:nvSpPr>
          <p:cNvPr id="8" name="Footer Placeholder 2"/>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eaLnBrk="0" fontAlgn="base" hangingPunct="0">
              <a:spcBef>
                <a:spcPct val="0"/>
              </a:spcBef>
              <a:spcAft>
                <a:spcPct val="0"/>
              </a:spcAft>
              <a:defRPr>
                <a:latin typeface="Lucida Sans Unicode" panose="020B0602030504020204" pitchFamily="34" charset="0"/>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endParaRPr>
          </a:p>
        </p:txBody>
      </p:sp>
      <p:sp>
        <p:nvSpPr>
          <p:cNvPr id="9" name="Slide Number Placeholder 3"/>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p>
            <a:pPr algn="r" fontAlgn="base"/>
            <a:fld id="{9A0DB2DC-4C9A-4742-B13C-FB6460FD3503}" type="slidenum">
              <a:rPr lang="es-ES" altLang="en-US" strike="noStrike" noProof="1" dirty="0">
                <a:latin typeface="Calibri" panose="020F0502020204030204" pitchFamily="34" charset="0"/>
                <a:ea typeface="+mn-ea"/>
                <a:cs typeface="+mn-cs"/>
              </a:rPr>
              <a:t>‹Nº›</a:t>
            </a:fld>
            <a:endParaRPr lang="es-ES" altLang="en-US" strike="noStrike" noProof="1"/>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pPr fontAlgn="base"/>
            <a:r>
              <a:rPr lang="es-ES" strike="noStrike" noProof="1"/>
              <a:t>Haga clic para modificar el estilo de título del patrón</a:t>
            </a:r>
            <a:endParaRPr lang="en-US" strike="noStrike" noProof="1"/>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es-ES" strike="noStrike" noProof="1"/>
              <a:t>Editar el estilo de texto del patrón</a:t>
            </a:r>
          </a:p>
          <a:p>
            <a:pPr lvl="1" fontAlgn="base"/>
            <a:r>
              <a:rPr lang="es-ES" strike="noStrike" noProof="1"/>
              <a:t>Segundo nivel</a:t>
            </a:r>
          </a:p>
          <a:p>
            <a:pPr lvl="2" fontAlgn="base"/>
            <a:r>
              <a:rPr lang="es-ES" strike="noStrike" noProof="1"/>
              <a:t>Tercer nivel</a:t>
            </a:r>
          </a:p>
          <a:p>
            <a:pPr lvl="3" fontAlgn="base"/>
            <a:r>
              <a:rPr lang="es-ES" strike="noStrike" noProof="1"/>
              <a:t>Cuarto nivel</a:t>
            </a:r>
          </a:p>
          <a:p>
            <a:pPr lvl="4" fontAlgn="base"/>
            <a:r>
              <a:rPr lang="es-ES" strike="noStrike" noProof="1"/>
              <a:t>Quinto nivel</a:t>
            </a:r>
            <a:endParaRPr lang="en-US" strike="noStrike" noProof="1"/>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es-ES" strike="noStrike" noProof="1"/>
              <a:t>Editar el estilo de texto del patrón</a:t>
            </a:r>
          </a:p>
        </p:txBody>
      </p:sp>
      <p:sp>
        <p:nvSpPr>
          <p:cNvPr id="7" name="Date Placeholder 4"/>
          <p:cNvSpPr>
            <a:spLocks noGrp="1"/>
          </p:cNvSpPr>
          <p:nvPr>
            <p:ph type="dt" sz="half" idx="12"/>
          </p:nvPr>
        </p:nvSpPr>
        <p:spPr>
          <a:xfrm>
            <a:off x="628650" y="6356350"/>
            <a:ext cx="2057400" cy="365125"/>
          </a:xfrm>
          <a:prstGeom prst="rect">
            <a:avLst/>
          </a:prstGeom>
        </p:spPr>
        <p:txBody>
          <a:bodyPr vert="horz" lIns="91440" tIns="45720" rIns="91440" bIns="45720" rtlCol="0" anchor="ctr"/>
          <a:lstStyle>
            <a:lvl1pPr eaLnBrk="0" fontAlgn="base" hangingPunct="0">
              <a:spcBef>
                <a:spcPct val="0"/>
              </a:spcBef>
              <a:spcAft>
                <a:spcPct val="0"/>
              </a:spcAft>
              <a:defRPr>
                <a:latin typeface="Lucida Sans Unicode" panose="020B0602030504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9D3B3F2D-1A8D-4539-930F-8E9607AE1D5C}" type="datetimeFigureOut">
              <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rPr>
              <a:t>24/06/2026</a:t>
            </a:fld>
            <a:endPar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endParaRPr>
          </a:p>
        </p:txBody>
      </p:sp>
      <p:sp>
        <p:nvSpPr>
          <p:cNvPr id="8" name="Footer Placeholder 5"/>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eaLnBrk="0" fontAlgn="base" hangingPunct="0">
              <a:spcBef>
                <a:spcPct val="0"/>
              </a:spcBef>
              <a:spcAft>
                <a:spcPct val="0"/>
              </a:spcAft>
              <a:defRPr>
                <a:latin typeface="Lucida Sans Unicode" panose="020B0602030504020204" pitchFamily="34" charset="0"/>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endParaRPr>
          </a:p>
        </p:txBody>
      </p:sp>
      <p:sp>
        <p:nvSpPr>
          <p:cNvPr id="9" name="Slide Number Placeholder 6"/>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p>
            <a:pPr algn="r" fontAlgn="base"/>
            <a:fld id="{9A0DB2DC-4C9A-4742-B13C-FB6460FD3503}" type="slidenum">
              <a:rPr lang="es-ES" altLang="en-US" strike="noStrike" noProof="1" dirty="0">
                <a:latin typeface="Calibri" panose="020F0502020204030204" pitchFamily="34" charset="0"/>
                <a:ea typeface="+mn-ea"/>
                <a:cs typeface="+mn-cs"/>
              </a:rPr>
              <a:t>‹Nº›</a:t>
            </a:fld>
            <a:endParaRPr lang="es-ES" altLang="en-US" strike="noStrike" noProof="1"/>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pPr fontAlgn="base"/>
            <a:r>
              <a:rPr lang="es-ES" strike="noStrike" noProof="1"/>
              <a:t>Haga clic para modificar el estilo de título del patrón</a:t>
            </a:r>
            <a:endParaRPr lang="en-US" strike="noStrike" noProof="1"/>
          </a:p>
        </p:txBody>
      </p:sp>
      <p:sp>
        <p:nvSpPr>
          <p:cNvPr id="3" name="Picture Placeholder 2"/>
          <p:cNvSpPr>
            <a:spLocks noGrp="1" noChangeAspect="1"/>
          </p:cNvSpPr>
          <p:nvPr>
            <p:ph type="pic" idx="1"/>
          </p:nvPr>
        </p:nvSpPr>
        <p:spPr>
          <a:xfrm>
            <a:off x="3887391" y="987426"/>
            <a:ext cx="4629150" cy="4873625"/>
          </a:xfrm>
        </p:spPr>
        <p:txBody>
          <a:bodyPr vert="horz" wrap="square" lIns="91440" tIns="45720" rIns="91440" bIns="45720" numCol="1" rtlCol="0" anchor="t" anchorCtr="0" compatLnSpc="1">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r>
              <a:rPr kumimoji="0" lang="es-ES" sz="2400" b="0" i="0" u="none" strike="noStrike" kern="1200" cap="none" spc="0" normalizeH="0" baseline="0" noProof="0">
                <a:ln>
                  <a:noFill/>
                </a:ln>
                <a:solidFill>
                  <a:schemeClr val="tx1"/>
                </a:solidFill>
                <a:effectLst/>
                <a:uLnTx/>
                <a:uFillTx/>
                <a:latin typeface="+mn-lt"/>
                <a:ea typeface="+mn-ea"/>
                <a:cs typeface="+mn-cs"/>
              </a:rPr>
              <a:t>Haga clic en el icono para agregar una imagen</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es-ES" strike="noStrike" noProof="1"/>
              <a:t>Editar el estilo de texto del patrón</a:t>
            </a:r>
          </a:p>
        </p:txBody>
      </p:sp>
      <p:sp>
        <p:nvSpPr>
          <p:cNvPr id="7" name="Date Placeholder 4"/>
          <p:cNvSpPr>
            <a:spLocks noGrp="1"/>
          </p:cNvSpPr>
          <p:nvPr>
            <p:ph type="dt" sz="half" idx="12"/>
          </p:nvPr>
        </p:nvSpPr>
        <p:spPr>
          <a:xfrm>
            <a:off x="628650" y="6356350"/>
            <a:ext cx="2057400" cy="365125"/>
          </a:xfrm>
          <a:prstGeom prst="rect">
            <a:avLst/>
          </a:prstGeom>
        </p:spPr>
        <p:txBody>
          <a:bodyPr vert="horz" lIns="91440" tIns="45720" rIns="91440" bIns="45720" rtlCol="0" anchor="ctr"/>
          <a:lstStyle>
            <a:lvl1pPr eaLnBrk="0" fontAlgn="base" hangingPunct="0">
              <a:spcBef>
                <a:spcPct val="0"/>
              </a:spcBef>
              <a:spcAft>
                <a:spcPct val="0"/>
              </a:spcAft>
              <a:defRPr>
                <a:latin typeface="Lucida Sans Unicode" panose="020B0602030504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68FA0F89-96EE-469D-9E12-7C0EB5180D7E}" type="datetimeFigureOut">
              <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rPr>
              <a:t>24/06/2026</a:t>
            </a:fld>
            <a:endPar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endParaRPr>
          </a:p>
        </p:txBody>
      </p:sp>
      <p:sp>
        <p:nvSpPr>
          <p:cNvPr id="8" name="Footer Placeholder 5"/>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eaLnBrk="0" fontAlgn="base" hangingPunct="0">
              <a:spcBef>
                <a:spcPct val="0"/>
              </a:spcBef>
              <a:spcAft>
                <a:spcPct val="0"/>
              </a:spcAft>
              <a:defRPr>
                <a:latin typeface="Lucida Sans Unicode" panose="020B0602030504020204" pitchFamily="34" charset="0"/>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endParaRPr>
          </a:p>
        </p:txBody>
      </p:sp>
      <p:sp>
        <p:nvSpPr>
          <p:cNvPr id="9" name="Slide Number Placeholder 6"/>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p>
            <a:pPr algn="r" fontAlgn="base"/>
            <a:fld id="{9A0DB2DC-4C9A-4742-B13C-FB6460FD3503}" type="slidenum">
              <a:rPr lang="es-ES" altLang="en-US" strike="noStrike" noProof="1" dirty="0">
                <a:latin typeface="Calibri" panose="020F0502020204030204" pitchFamily="34" charset="0"/>
                <a:ea typeface="+mn-ea"/>
                <a:cs typeface="+mn-cs"/>
              </a:rPr>
              <a:t>‹Nº›</a:t>
            </a:fld>
            <a:endParaRPr lang="es-ES" altLang="en-US" strike="noStrike" noProof="1"/>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s-ES" strike="noStrike" noProof="1"/>
              <a:t>Haga clic para modificar el estilo de título del patrón</a:t>
            </a:r>
            <a:endParaRPr lang="en-US" strike="noStrike" noProof="1"/>
          </a:p>
        </p:txBody>
      </p:sp>
      <p:sp>
        <p:nvSpPr>
          <p:cNvPr id="3" name="Vertical Text Placeholder 2"/>
          <p:cNvSpPr>
            <a:spLocks noGrp="1"/>
          </p:cNvSpPr>
          <p:nvPr>
            <p:ph type="body" orient="vert" idx="1"/>
          </p:nvPr>
        </p:nvSpPr>
        <p:spPr/>
        <p:txBody>
          <a:bodyPr vert="eaVert"/>
          <a:lstStyle/>
          <a:p>
            <a:pPr lvl="0" fontAlgn="base"/>
            <a:r>
              <a:rPr lang="es-ES" strike="noStrike" noProof="1"/>
              <a:t>Editar el estilo de texto del patrón</a:t>
            </a:r>
          </a:p>
          <a:p>
            <a:pPr lvl="1" fontAlgn="base"/>
            <a:r>
              <a:rPr lang="es-ES" strike="noStrike" noProof="1"/>
              <a:t>Segundo nivel</a:t>
            </a:r>
          </a:p>
          <a:p>
            <a:pPr lvl="2" fontAlgn="base"/>
            <a:r>
              <a:rPr lang="es-ES" strike="noStrike" noProof="1"/>
              <a:t>Tercer nivel</a:t>
            </a:r>
          </a:p>
          <a:p>
            <a:pPr lvl="3" fontAlgn="base"/>
            <a:r>
              <a:rPr lang="es-ES" strike="noStrike" noProof="1"/>
              <a:t>Cuarto nivel</a:t>
            </a:r>
          </a:p>
          <a:p>
            <a:pPr lvl="4" fontAlgn="base"/>
            <a:r>
              <a:rPr lang="es-ES" strike="noStrike" noProof="1"/>
              <a:t>Quinto nivel</a:t>
            </a:r>
            <a:endParaRPr lang="en-US" strike="noStrike" noProof="1"/>
          </a:p>
        </p:txBody>
      </p:sp>
      <p:sp>
        <p:nvSpPr>
          <p:cNvPr id="7"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eaLnBrk="0" fontAlgn="base" hangingPunct="0">
              <a:spcBef>
                <a:spcPct val="0"/>
              </a:spcBef>
              <a:spcAft>
                <a:spcPct val="0"/>
              </a:spcAft>
              <a:defRPr>
                <a:latin typeface="Lucida Sans Unicode" panose="020B0602030504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FB5FC503-32BE-4CA0-BAB2-7DB085D5F956}" type="datetimeFigureOut">
              <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rPr>
              <a:t>24/06/2026</a:t>
            </a:fld>
            <a:endPar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endParaRPr>
          </a:p>
        </p:txBody>
      </p:sp>
      <p:sp>
        <p:nvSpPr>
          <p:cNvPr id="8"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eaLnBrk="0" fontAlgn="base" hangingPunct="0">
              <a:spcBef>
                <a:spcPct val="0"/>
              </a:spcBef>
              <a:spcAft>
                <a:spcPct val="0"/>
              </a:spcAft>
              <a:defRPr>
                <a:latin typeface="Lucida Sans Unicode" panose="020B0602030504020204" pitchFamily="34" charset="0"/>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endParaRPr>
          </a:p>
        </p:txBody>
      </p:sp>
      <p:sp>
        <p:nvSpPr>
          <p:cNvPr id="9"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p>
            <a:pPr algn="r" fontAlgn="base"/>
            <a:fld id="{9A0DB2DC-4C9A-4742-B13C-FB6460FD3503}" type="slidenum">
              <a:rPr lang="es-ES" altLang="en-US" strike="noStrike" noProof="1" dirty="0">
                <a:latin typeface="Calibri" panose="020F0502020204030204" pitchFamily="34" charset="0"/>
                <a:ea typeface="+mn-ea"/>
                <a:cs typeface="+mn-cs"/>
              </a:rPr>
              <a:t>‹Nº›</a:t>
            </a:fld>
            <a:endParaRPr lang="es-ES" altLang="en-US" strike="noStrike" noProof="1"/>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pPr fontAlgn="base"/>
            <a:r>
              <a:rPr lang="es-ES" strike="noStrike" noProof="1"/>
              <a:t>Haga clic para modificar el estilo de título del patrón</a:t>
            </a:r>
            <a:endParaRPr lang="en-US" strike="noStrike" noProof="1"/>
          </a:p>
        </p:txBody>
      </p:sp>
      <p:sp>
        <p:nvSpPr>
          <p:cNvPr id="3" name="Vertical Text Placeholder 2"/>
          <p:cNvSpPr>
            <a:spLocks noGrp="1"/>
          </p:cNvSpPr>
          <p:nvPr>
            <p:ph type="body" orient="vert" idx="1"/>
          </p:nvPr>
        </p:nvSpPr>
        <p:spPr>
          <a:xfrm>
            <a:off x="628650" y="365125"/>
            <a:ext cx="5800725" cy="5811838"/>
          </a:xfrm>
        </p:spPr>
        <p:txBody>
          <a:bodyPr vert="eaVert"/>
          <a:lstStyle/>
          <a:p>
            <a:pPr lvl="0" fontAlgn="base"/>
            <a:r>
              <a:rPr lang="es-ES" strike="noStrike" noProof="1"/>
              <a:t>Editar el estilo de texto del patrón</a:t>
            </a:r>
          </a:p>
          <a:p>
            <a:pPr lvl="1" fontAlgn="base"/>
            <a:r>
              <a:rPr lang="es-ES" strike="noStrike" noProof="1"/>
              <a:t>Segundo nivel</a:t>
            </a:r>
          </a:p>
          <a:p>
            <a:pPr lvl="2" fontAlgn="base"/>
            <a:r>
              <a:rPr lang="es-ES" strike="noStrike" noProof="1"/>
              <a:t>Tercer nivel</a:t>
            </a:r>
          </a:p>
          <a:p>
            <a:pPr lvl="3" fontAlgn="base"/>
            <a:r>
              <a:rPr lang="es-ES" strike="noStrike" noProof="1"/>
              <a:t>Cuarto nivel</a:t>
            </a:r>
          </a:p>
          <a:p>
            <a:pPr lvl="4" fontAlgn="base"/>
            <a:r>
              <a:rPr lang="es-ES" strike="noStrike" noProof="1"/>
              <a:t>Quinto nivel</a:t>
            </a:r>
            <a:endParaRPr lang="en-US" strike="noStrike" noProof="1"/>
          </a:p>
        </p:txBody>
      </p:sp>
      <p:sp>
        <p:nvSpPr>
          <p:cNvPr id="7"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eaLnBrk="0" fontAlgn="base" hangingPunct="0">
              <a:spcBef>
                <a:spcPct val="0"/>
              </a:spcBef>
              <a:spcAft>
                <a:spcPct val="0"/>
              </a:spcAft>
              <a:defRPr>
                <a:latin typeface="Lucida Sans Unicode" panose="020B0602030504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F8FC0434-1DCD-4EC5-9E91-D6AE1C8B3B1E}" type="datetimeFigureOut">
              <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rPr>
              <a:t>24/06/2026</a:t>
            </a:fld>
            <a:endPar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endParaRPr>
          </a:p>
        </p:txBody>
      </p:sp>
      <p:sp>
        <p:nvSpPr>
          <p:cNvPr id="8"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eaLnBrk="0" fontAlgn="base" hangingPunct="0">
              <a:spcBef>
                <a:spcPct val="0"/>
              </a:spcBef>
              <a:spcAft>
                <a:spcPct val="0"/>
              </a:spcAft>
              <a:defRPr>
                <a:latin typeface="Lucida Sans Unicode" panose="020B0602030504020204" pitchFamily="34" charset="0"/>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s-ES" sz="900" b="0" i="0" u="none" strike="noStrike" kern="1200" cap="none" spc="0" normalizeH="0" baseline="0" noProof="0">
              <a:ln>
                <a:noFill/>
              </a:ln>
              <a:solidFill>
                <a:prstClr val="black">
                  <a:tint val="75000"/>
                </a:prstClr>
              </a:solidFill>
              <a:effectLst/>
              <a:uLnTx/>
              <a:uFillTx/>
              <a:latin typeface="Lucida Sans Unicode" panose="020B0602030504020204" pitchFamily="34" charset="0"/>
              <a:ea typeface="+mn-ea"/>
              <a:cs typeface="+mn-cs"/>
            </a:endParaRPr>
          </a:p>
        </p:txBody>
      </p:sp>
      <p:sp>
        <p:nvSpPr>
          <p:cNvPr id="9"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p>
            <a:pPr algn="r" fontAlgn="base"/>
            <a:fld id="{9A0DB2DC-4C9A-4742-B13C-FB6460FD3503}" type="slidenum">
              <a:rPr lang="es-ES" altLang="en-US" strike="noStrike" noProof="1" dirty="0">
                <a:latin typeface="Calibri" panose="020F0502020204030204" pitchFamily="34" charset="0"/>
                <a:ea typeface="+mn-ea"/>
                <a:cs typeface="+mn-cs"/>
              </a:rPr>
              <a:t>‹Nº›</a:t>
            </a:fld>
            <a:endParaRPr lang="es-ES" altLang="en-US" strike="noStrike" noProof="1"/>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628650" y="365125"/>
            <a:ext cx="7886700" cy="1325563"/>
          </a:xfrm>
          <a:prstGeom prst="rect">
            <a:avLst/>
          </a:prstGeom>
          <a:noFill/>
          <a:ln w="9525">
            <a:noFill/>
          </a:ln>
        </p:spPr>
        <p:txBody>
          <a:bodyPr anchor="ctr" anchorCtr="0"/>
          <a:lstStyle/>
          <a:p>
            <a:pPr lvl="0"/>
            <a:r>
              <a:rPr lang="es-ES" altLang="en-US" dirty="0"/>
              <a:t>Haga clic para modificar el estilo de título del patrón</a:t>
            </a:r>
            <a:endParaRPr lang="en-US" altLang="en-US" dirty="0"/>
          </a:p>
        </p:txBody>
      </p:sp>
      <p:sp>
        <p:nvSpPr>
          <p:cNvPr id="1027" name="Text Placeholder 2"/>
          <p:cNvSpPr>
            <a:spLocks noGrp="1"/>
          </p:cNvSpPr>
          <p:nvPr>
            <p:ph type="body"/>
          </p:nvPr>
        </p:nvSpPr>
        <p:spPr>
          <a:xfrm>
            <a:off x="628650" y="1825625"/>
            <a:ext cx="7886700" cy="4351338"/>
          </a:xfrm>
          <a:prstGeom prst="rect">
            <a:avLst/>
          </a:prstGeom>
          <a:noFill/>
          <a:ln w="9525">
            <a:noFill/>
          </a:ln>
        </p:spPr>
        <p:txBody>
          <a:bodyPr anchor="t" anchorCtr="0"/>
          <a:lstStyle/>
          <a:p>
            <a:pPr lvl="0"/>
            <a:r>
              <a:rPr lang="es-ES" altLang="en-US" dirty="0"/>
              <a:t>Editar el estilo de texto del patrón</a:t>
            </a:r>
          </a:p>
          <a:p>
            <a:pPr lvl="1"/>
            <a:r>
              <a:rPr lang="es-ES" altLang="en-US" dirty="0"/>
              <a:t>Segundo nivel</a:t>
            </a:r>
          </a:p>
          <a:p>
            <a:pPr lvl="2"/>
            <a:r>
              <a:rPr lang="es-ES" altLang="en-US" dirty="0"/>
              <a:t>Tercer nivel</a:t>
            </a:r>
          </a:p>
          <a:p>
            <a:pPr lvl="3"/>
            <a:r>
              <a:rPr lang="es-ES" altLang="en-US" dirty="0"/>
              <a:t>Cuarto nivel</a:t>
            </a:r>
          </a:p>
          <a:p>
            <a:pPr lvl="4"/>
            <a:r>
              <a:rPr lang="es-ES" altLang="en-US" dirty="0"/>
              <a:t>Quinto nivel</a:t>
            </a:r>
            <a:endParaRPr lang="en-US" altLang="en-US" dirty="0"/>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prstClr val="black">
                    <a:tint val="75000"/>
                  </a:prstClr>
                </a:solidFill>
                <a:latin typeface="Calibri" panose="020F0502020204030204"/>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A0D23FEA-7DE7-41A6-8E4B-59027BED29B3}" type="datetimeFigureOut">
              <a:rPr kumimoji="0" lang="es-E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24/06/2026</a:t>
            </a:fld>
            <a:endParaRPr kumimoji="0" lang="es-E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prstClr val="black">
                    <a:tint val="75000"/>
                  </a:prstClr>
                </a:solidFill>
                <a:latin typeface="Calibri" panose="020F0502020204030204"/>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s-E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lvl1pPr algn="r">
              <a:defRPr sz="900">
                <a:solidFill>
                  <a:srgbClr val="898989"/>
                </a:solidFill>
                <a:latin typeface="Calibri" panose="020F0502020204030204" pitchFamily="34" charset="0"/>
              </a:defRPr>
            </a:lvl1pPr>
          </a:lstStyle>
          <a:p>
            <a:pPr lvl="0" eaLnBrk="1" fontAlgn="base" hangingPunct="1"/>
            <a:fld id="{9A0DB2DC-4C9A-4742-B13C-FB6460FD3503}" type="slidenum">
              <a:rPr lang="es-ES" altLang="en-US" strike="noStrike" noProof="1" dirty="0">
                <a:latin typeface="Calibri" panose="020F0502020204030204" pitchFamily="34" charset="0"/>
                <a:ea typeface="+mn-ea"/>
                <a:cs typeface="+mn-cs"/>
              </a:rPr>
              <a:t>‹Nº›</a:t>
            </a:fld>
            <a:endParaRPr lang="es-ES" altLang="en-US" strike="noStrike" noProof="1">
              <a:latin typeface="Lucida Sans Unicode" panose="020B0602030504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3"/>
          <a:stretch>
            <a:fillRect/>
          </a:stretch>
        </a:blipFill>
        <a:effectLst/>
      </p:bgPr>
    </p:bg>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CFFA56B3-38F0-BC0C-891B-8347A2531B7A}"/>
              </a:ext>
            </a:extLst>
          </p:cNvPr>
          <p:cNvSpPr>
            <a:spLocks noGrp="1"/>
          </p:cNvSpPr>
          <p:nvPr>
            <p:ph type="subTitle" idx="1"/>
          </p:nvPr>
        </p:nvSpPr>
        <p:spPr>
          <a:xfrm>
            <a:off x="683568" y="4077072"/>
            <a:ext cx="6858000" cy="1655762"/>
          </a:xfrm>
        </p:spPr>
        <p:txBody>
          <a:bodyPr/>
          <a:lstStyle/>
          <a:p>
            <a:pPr algn="l"/>
            <a:r>
              <a:rPr lang="es-ES" b="1" dirty="0">
                <a:latin typeface="Arial" panose="020B0604020202020204" pitchFamily="34" charset="0"/>
                <a:cs typeface="Arial" panose="020B0604020202020204" pitchFamily="34" charset="0"/>
              </a:rPr>
              <a:t>INTEGRANTES:</a:t>
            </a:r>
          </a:p>
          <a:p>
            <a:pPr algn="l"/>
            <a:r>
              <a:rPr lang="es-ES" dirty="0">
                <a:latin typeface="Arial" panose="020B0604020202020204" pitchFamily="34" charset="0"/>
                <a:cs typeface="Arial" panose="020B0604020202020204" pitchFamily="34" charset="0"/>
              </a:rPr>
              <a:t>Cristhian Jesús Cabrera Castillo</a:t>
            </a:r>
          </a:p>
          <a:p>
            <a:pPr algn="l"/>
            <a:r>
              <a:rPr lang="es-ES" dirty="0">
                <a:latin typeface="Arial" panose="020B0604020202020204" pitchFamily="34" charset="0"/>
                <a:cs typeface="Arial" panose="020B0604020202020204" pitchFamily="34" charset="0"/>
              </a:rPr>
              <a:t>Ernesto Javier Quintana Hernández</a:t>
            </a:r>
          </a:p>
          <a:p>
            <a:pPr algn="l"/>
            <a:r>
              <a:rPr lang="es-ES" dirty="0" err="1">
                <a:latin typeface="Arial" panose="020B0604020202020204" pitchFamily="34" charset="0"/>
                <a:cs typeface="Arial" panose="020B0604020202020204" pitchFamily="34" charset="0"/>
              </a:rPr>
              <a:t>Marlom</a:t>
            </a:r>
            <a:r>
              <a:rPr lang="es-ES" dirty="0">
                <a:latin typeface="Arial" panose="020B0604020202020204" pitchFamily="34" charset="0"/>
                <a:cs typeface="Arial" panose="020B0604020202020204" pitchFamily="34" charset="0"/>
              </a:rPr>
              <a:t> Alejandro Sánchez Pilotos</a:t>
            </a:r>
          </a:p>
        </p:txBody>
      </p:sp>
      <p:sp>
        <p:nvSpPr>
          <p:cNvPr id="5" name="Título 4">
            <a:extLst>
              <a:ext uri="{FF2B5EF4-FFF2-40B4-BE49-F238E27FC236}">
                <a16:creationId xmlns:a16="http://schemas.microsoft.com/office/drawing/2014/main" id="{0BECE77F-C547-635E-50F0-B72DEDC35F23}"/>
              </a:ext>
            </a:extLst>
          </p:cNvPr>
          <p:cNvSpPr>
            <a:spLocks noGrp="1"/>
          </p:cNvSpPr>
          <p:nvPr>
            <p:ph type="ctrTitle"/>
          </p:nvPr>
        </p:nvSpPr>
        <p:spPr>
          <a:xfrm>
            <a:off x="323528" y="2276872"/>
            <a:ext cx="8424936" cy="1512168"/>
          </a:xfrm>
        </p:spPr>
        <p:txBody>
          <a:bodyPr/>
          <a:lstStyle/>
          <a:p>
            <a:pPr>
              <a:lnSpc>
                <a:spcPct val="100000"/>
              </a:lnSpc>
            </a:pP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br>
              <a:rPr lang="es-ES" sz="3200" dirty="0">
                <a:effectLst/>
                <a:latin typeface="Arial" panose="020B0604020202020204" pitchFamily="34" charset="0"/>
                <a:ea typeface="Book Antiqua" panose="02040602050305030304" pitchFamily="18" charset="0"/>
                <a:cs typeface="Arial" panose="020B0604020202020204" pitchFamily="34" charset="0"/>
              </a:rPr>
            </a:br>
            <a:r>
              <a:rPr lang="es-ES" sz="2400" b="1" dirty="0">
                <a:effectLst/>
                <a:latin typeface="Arial" panose="020B0604020202020204" pitchFamily="34" charset="0"/>
                <a:ea typeface="Book Antiqua" panose="02040602050305030304" pitchFamily="18" charset="0"/>
                <a:cs typeface="Arial" panose="020B0604020202020204" pitchFamily="34" charset="0"/>
              </a:rPr>
              <a:t>INVERSOR DE MATRICES MEDIANTE RED</a:t>
            </a:r>
            <a:r>
              <a:rPr lang="es-ES" sz="2400" b="1" spc="400" dirty="0">
                <a:effectLst/>
                <a:latin typeface="Arial" panose="020B0604020202020204" pitchFamily="34" charset="0"/>
                <a:ea typeface="Book Antiqua" panose="02040602050305030304" pitchFamily="18" charset="0"/>
                <a:cs typeface="Arial" panose="020B0604020202020204" pitchFamily="34" charset="0"/>
              </a:rPr>
              <a:t> </a:t>
            </a:r>
            <a:r>
              <a:rPr lang="es-ES" sz="2400" b="1" dirty="0">
                <a:effectLst/>
                <a:latin typeface="Arial" panose="020B0604020202020204" pitchFamily="34" charset="0"/>
                <a:ea typeface="Book Antiqua" panose="02040602050305030304" pitchFamily="18" charset="0"/>
                <a:cs typeface="Arial" panose="020B0604020202020204" pitchFamily="34" charset="0"/>
              </a:rPr>
              <a:t>NEURONAL</a:t>
            </a:r>
            <a:r>
              <a:rPr lang="es-ES" sz="2400" b="1" spc="270" dirty="0">
                <a:effectLst/>
                <a:latin typeface="Arial" panose="020B0604020202020204" pitchFamily="34" charset="0"/>
                <a:ea typeface="Book Antiqua" panose="02040602050305030304" pitchFamily="18" charset="0"/>
                <a:cs typeface="Arial" panose="020B0604020202020204" pitchFamily="34" charset="0"/>
              </a:rPr>
              <a:t> </a:t>
            </a:r>
            <a:r>
              <a:rPr lang="es-ES" sz="2400" b="1" dirty="0">
                <a:effectLst/>
                <a:latin typeface="Arial" panose="020B0604020202020204" pitchFamily="34" charset="0"/>
                <a:ea typeface="Book Antiqua" panose="02040602050305030304" pitchFamily="18" charset="0"/>
                <a:cs typeface="Arial" panose="020B0604020202020204" pitchFamily="34" charset="0"/>
              </a:rPr>
              <a:t>Y</a:t>
            </a:r>
            <a:r>
              <a:rPr lang="es-ES" sz="2400" b="1" spc="275" dirty="0">
                <a:effectLst/>
                <a:latin typeface="Arial" panose="020B0604020202020204" pitchFamily="34" charset="0"/>
                <a:ea typeface="Book Antiqua" panose="02040602050305030304" pitchFamily="18" charset="0"/>
                <a:cs typeface="Arial" panose="020B0604020202020204" pitchFamily="34" charset="0"/>
              </a:rPr>
              <a:t> </a:t>
            </a:r>
            <a:r>
              <a:rPr lang="es-ES" sz="2400" b="1" dirty="0">
                <a:effectLst/>
                <a:latin typeface="Arial" panose="020B0604020202020204" pitchFamily="34" charset="0"/>
                <a:ea typeface="Book Antiqua" panose="02040602050305030304" pitchFamily="18" charset="0"/>
                <a:cs typeface="Arial" panose="020B0604020202020204" pitchFamily="34" charset="0"/>
              </a:rPr>
              <a:t>RE</a:t>
            </a:r>
            <a:r>
              <a:rPr lang="es-ES" sz="2400" b="1" spc="285" dirty="0">
                <a:effectLst/>
                <a:latin typeface="Arial" panose="020B0604020202020204" pitchFamily="34" charset="0"/>
                <a:ea typeface="Book Antiqua" panose="02040602050305030304" pitchFamily="18" charset="0"/>
                <a:cs typeface="Arial" panose="020B0604020202020204" pitchFamily="34" charset="0"/>
              </a:rPr>
              <a:t>FI</a:t>
            </a:r>
            <a:r>
              <a:rPr lang="es-ES" sz="2400" b="1" dirty="0">
                <a:effectLst/>
                <a:latin typeface="Arial" panose="020B0604020202020204" pitchFamily="34" charset="0"/>
                <a:ea typeface="Book Antiqua" panose="02040602050305030304" pitchFamily="18" charset="0"/>
                <a:cs typeface="Arial" panose="020B0604020202020204" pitchFamily="34" charset="0"/>
              </a:rPr>
              <a:t>NAMIENTO</a:t>
            </a:r>
            <a:r>
              <a:rPr lang="es-ES" sz="2400" b="1" spc="275" dirty="0">
                <a:effectLst/>
                <a:latin typeface="Arial" panose="020B0604020202020204" pitchFamily="34" charset="0"/>
                <a:ea typeface="Book Antiqua" panose="02040602050305030304" pitchFamily="18" charset="0"/>
                <a:cs typeface="Arial" panose="020B0604020202020204" pitchFamily="34" charset="0"/>
              </a:rPr>
              <a:t> </a:t>
            </a:r>
            <a:r>
              <a:rPr lang="es-ES" sz="2400" b="1" spc="-10" dirty="0">
                <a:effectLst/>
                <a:latin typeface="Arial" panose="020B0604020202020204" pitchFamily="34" charset="0"/>
                <a:ea typeface="Book Antiqua" panose="02040602050305030304" pitchFamily="18" charset="0"/>
                <a:cs typeface="Arial" panose="020B0604020202020204" pitchFamily="34" charset="0"/>
              </a:rPr>
              <a:t>ALGEBRAICO</a:t>
            </a:r>
            <a:br>
              <a:rPr lang="es-MX" sz="3200" dirty="0">
                <a:effectLst/>
                <a:latin typeface="Arial" panose="020B0604020202020204" pitchFamily="34" charset="0"/>
                <a:ea typeface="Book Antiqua" panose="02040602050305030304" pitchFamily="18" charset="0"/>
                <a:cs typeface="Arial" panose="020B0604020202020204" pitchFamily="34" charset="0"/>
              </a:rPr>
            </a:br>
            <a:endParaRPr lang="es-ES" sz="3200" dirty="0">
              <a:latin typeface="Arial" panose="020B0604020202020204" pitchFamily="34" charset="0"/>
              <a:cs typeface="Arial" panose="020B0604020202020204" pitchFamily="34"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D5484F-F337-B455-A6D3-0E5286A48EB7}"/>
              </a:ext>
            </a:extLst>
          </p:cNvPr>
          <p:cNvSpPr>
            <a:spLocks noGrp="1"/>
          </p:cNvSpPr>
          <p:nvPr>
            <p:ph type="title"/>
          </p:nvPr>
        </p:nvSpPr>
        <p:spPr>
          <a:xfrm>
            <a:off x="628650" y="365125"/>
            <a:ext cx="2935238" cy="543595"/>
          </a:xfrm>
        </p:spPr>
        <p:txBody>
          <a:bodyPr/>
          <a:lstStyle/>
          <a:p>
            <a:r>
              <a:rPr lang="es-ES" sz="2400" b="1" dirty="0">
                <a:latin typeface="Arial" panose="020B0604020202020204" pitchFamily="34" charset="0"/>
                <a:cs typeface="Arial" panose="020B0604020202020204" pitchFamily="34" charset="0"/>
              </a:rPr>
              <a:t>INTRODUCCIÓN</a:t>
            </a:r>
          </a:p>
        </p:txBody>
      </p:sp>
      <p:sp>
        <p:nvSpPr>
          <p:cNvPr id="3" name="Marcador de contenido 2">
            <a:extLst>
              <a:ext uri="{FF2B5EF4-FFF2-40B4-BE49-F238E27FC236}">
                <a16:creationId xmlns:a16="http://schemas.microsoft.com/office/drawing/2014/main" id="{D8766A17-796C-3129-D1B7-DD9EA2DB577A}"/>
              </a:ext>
            </a:extLst>
          </p:cNvPr>
          <p:cNvSpPr>
            <a:spLocks noGrp="1"/>
          </p:cNvSpPr>
          <p:nvPr>
            <p:ph idx="1"/>
          </p:nvPr>
        </p:nvSpPr>
        <p:spPr>
          <a:xfrm>
            <a:off x="628650" y="1825625"/>
            <a:ext cx="7886700" cy="2611487"/>
          </a:xfrm>
        </p:spPr>
        <p:txBody>
          <a:bodyPr/>
          <a:lstStyle/>
          <a:p>
            <a:pPr marL="0" indent="0" algn="just">
              <a:lnSpc>
                <a:spcPct val="150000"/>
              </a:lnSpc>
              <a:buNone/>
            </a:pPr>
            <a:r>
              <a:rPr lang="es-ES" sz="2000" dirty="0">
                <a:effectLst/>
                <a:latin typeface="Arial" panose="020B0604020202020204" pitchFamily="34" charset="0"/>
                <a:ea typeface="Times New Roman" panose="02020603050405020304" pitchFamily="18" charset="0"/>
                <a:cs typeface="Arial" panose="020B0604020202020204" pitchFamily="34" charset="0"/>
              </a:rPr>
              <a:t>El cálculo de la matriz inversa es una operación fundamental en álgebra lineal, con aplicaciones</a:t>
            </a:r>
            <a:r>
              <a:rPr lang="es-ES" sz="2000" spc="-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en</a:t>
            </a:r>
            <a:r>
              <a:rPr lang="es-ES" sz="2000" spc="-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sistemas</a:t>
            </a:r>
            <a:r>
              <a:rPr lang="es-ES" sz="2000" spc="-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de</a:t>
            </a:r>
            <a:r>
              <a:rPr lang="es-ES" sz="2000" spc="-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ecuaciones,</a:t>
            </a:r>
            <a:r>
              <a:rPr lang="es-ES" sz="2000" spc="-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transformaciones</a:t>
            </a:r>
            <a:r>
              <a:rPr lang="es-ES" sz="2000" spc="-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geométricas</a:t>
            </a:r>
            <a:r>
              <a:rPr lang="es-ES" sz="2000" spc="-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y</a:t>
            </a:r>
            <a:r>
              <a:rPr lang="es-ES" sz="2000" spc="-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métodos</a:t>
            </a:r>
            <a:r>
              <a:rPr lang="es-ES" sz="2000" spc="-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numéri</a:t>
            </a:r>
            <a:r>
              <a:rPr lang="es-ES" sz="2000" dirty="0">
                <a:latin typeface="Arial" panose="020B0604020202020204" pitchFamily="34" charset="0"/>
                <a:ea typeface="Times New Roman" panose="02020603050405020304" pitchFamily="18" charset="0"/>
                <a:cs typeface="Arial" panose="020B0604020202020204" pitchFamily="34" charset="0"/>
              </a:rPr>
              <a:t>c</a:t>
            </a:r>
            <a:r>
              <a:rPr lang="es-ES" sz="2000" dirty="0">
                <a:effectLst/>
                <a:latin typeface="Arial" panose="020B0604020202020204" pitchFamily="34" charset="0"/>
                <a:ea typeface="Times New Roman" panose="02020603050405020304" pitchFamily="18" charset="0"/>
                <a:cs typeface="Arial" panose="020B0604020202020204" pitchFamily="34" charset="0"/>
              </a:rPr>
              <a:t>os en general. Los métodos clásicos para esta tarea</a:t>
            </a:r>
            <a:r>
              <a:rPr lang="es-ES" sz="2000" spc="20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como la eliminación de Gauss-</a:t>
            </a:r>
            <a:r>
              <a:rPr lang="es-ES" sz="2000" dirty="0" err="1">
                <a:effectLst/>
                <a:latin typeface="Arial" panose="020B0604020202020204" pitchFamily="34" charset="0"/>
                <a:ea typeface="Times New Roman" panose="02020603050405020304" pitchFamily="18" charset="0"/>
                <a:cs typeface="Arial" panose="020B0604020202020204" pitchFamily="34" charset="0"/>
              </a:rPr>
              <a:t>Jordan</a:t>
            </a:r>
            <a:r>
              <a:rPr lang="es-ES" sz="2000" spc="36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son</a:t>
            </a:r>
            <a:r>
              <a:rPr lang="es-ES" sz="2000" spc="13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algoritmos</a:t>
            </a:r>
            <a:r>
              <a:rPr lang="es-ES" sz="2000" spc="13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deterministas</a:t>
            </a:r>
            <a:r>
              <a:rPr lang="es-ES" sz="2000" spc="13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y</a:t>
            </a:r>
            <a:r>
              <a:rPr lang="es-ES" sz="2000" spc="13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exactos, pero rígidos. </a:t>
            </a:r>
          </a:p>
          <a:p>
            <a:endParaRPr lang="es-ES" dirty="0"/>
          </a:p>
        </p:txBody>
      </p:sp>
    </p:spTree>
    <p:extLst>
      <p:ext uri="{BB962C8B-B14F-4D97-AF65-F5344CB8AC3E}">
        <p14:creationId xmlns:p14="http://schemas.microsoft.com/office/powerpoint/2010/main" val="329243318"/>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ítulo 1"/>
          <p:cNvSpPr>
            <a:spLocks noGrp="1"/>
          </p:cNvSpPr>
          <p:nvPr>
            <p:ph type="title"/>
          </p:nvPr>
        </p:nvSpPr>
        <p:spPr>
          <a:xfrm>
            <a:off x="628650" y="365125"/>
            <a:ext cx="2863230" cy="543595"/>
          </a:xfrm>
          <a:ln/>
        </p:spPr>
        <p:txBody>
          <a:bodyPr anchor="ctr" anchorCtr="0"/>
          <a:lstStyle/>
          <a:p>
            <a:pPr algn="ctr"/>
            <a:r>
              <a:rPr lang="en-US" altLang="es-ES" sz="2400" b="1" dirty="0">
                <a:latin typeface="Arial" panose="020B0604020202020204" pitchFamily="34" charset="0"/>
                <a:cs typeface="Arial" panose="020B0604020202020204" pitchFamily="34" charset="0"/>
              </a:rPr>
              <a:t>PROBLEMÁTICA</a:t>
            </a:r>
          </a:p>
        </p:txBody>
      </p:sp>
      <p:sp>
        <p:nvSpPr>
          <p:cNvPr id="17410" name="Marcador de posición de contenido 2"/>
          <p:cNvSpPr>
            <a:spLocks noGrp="1"/>
          </p:cNvSpPr>
          <p:nvPr>
            <p:ph idx="1"/>
          </p:nvPr>
        </p:nvSpPr>
        <p:spPr>
          <a:xfrm>
            <a:off x="628650" y="1362711"/>
            <a:ext cx="7886700" cy="3434442"/>
          </a:xfrm>
          <a:ln/>
        </p:spPr>
        <p:txBody>
          <a:bodyPr anchor="t" anchorCtr="0"/>
          <a:lstStyle/>
          <a:p>
            <a:pPr marL="0" indent="0" algn="just">
              <a:lnSpc>
                <a:spcPct val="150000"/>
              </a:lnSpc>
              <a:buNone/>
            </a:pPr>
            <a:r>
              <a:rPr lang="es-ES" sz="2400" dirty="0">
                <a:effectLst/>
                <a:latin typeface="Arial" panose="020B0604020202020204" pitchFamily="34" charset="0"/>
                <a:ea typeface="Times New Roman" panose="02020603050405020304" pitchFamily="18" charset="0"/>
                <a:cs typeface="Arial" panose="020B0604020202020204" pitchFamily="34" charset="0"/>
              </a:rPr>
              <a:t>El presente proyecto explora una alternativa: </a:t>
            </a:r>
          </a:p>
          <a:p>
            <a:pPr marL="0" indent="0" algn="just">
              <a:lnSpc>
                <a:spcPct val="150000"/>
              </a:lnSpc>
              <a:buNone/>
            </a:pPr>
            <a:r>
              <a:rPr lang="es-ES" sz="2400" dirty="0">
                <a:latin typeface="Arial" panose="020B0604020202020204" pitchFamily="34" charset="0"/>
                <a:ea typeface="Times New Roman" panose="02020603050405020304" pitchFamily="18" charset="0"/>
                <a:cs typeface="Arial" panose="020B0604020202020204" pitchFamily="34" charset="0"/>
              </a:rPr>
              <a:t>U</a:t>
            </a:r>
            <a:r>
              <a:rPr lang="es-ES" sz="2400" dirty="0">
                <a:effectLst/>
                <a:latin typeface="Arial" panose="020B0604020202020204" pitchFamily="34" charset="0"/>
                <a:ea typeface="Times New Roman" panose="02020603050405020304" pitchFamily="18" charset="0"/>
                <a:cs typeface="Arial" panose="020B0604020202020204" pitchFamily="34" charset="0"/>
              </a:rPr>
              <a:t>n sistema que combina una red neuronal con métodos algebraicos iterativos para aproximar la inversa de una matriz, evaluando bajo qué</a:t>
            </a:r>
            <a:r>
              <a:rPr lang="es-ES" sz="2400" spc="-15" dirty="0">
                <a:effectLst/>
                <a:latin typeface="Arial" panose="020B0604020202020204" pitchFamily="34" charset="0"/>
                <a:ea typeface="Times New Roman" panose="02020603050405020304" pitchFamily="18" charset="0"/>
                <a:cs typeface="Arial" panose="020B0604020202020204" pitchFamily="34" charset="0"/>
              </a:rPr>
              <a:t> </a:t>
            </a:r>
            <a:r>
              <a:rPr lang="es-ES" sz="2400" dirty="0">
                <a:effectLst/>
                <a:latin typeface="Arial" panose="020B0604020202020204" pitchFamily="34" charset="0"/>
                <a:ea typeface="Times New Roman" panose="02020603050405020304" pitchFamily="18" charset="0"/>
                <a:cs typeface="Arial" panose="020B0604020202020204" pitchFamily="34" charset="0"/>
              </a:rPr>
              <a:t>condiciones</a:t>
            </a:r>
            <a:r>
              <a:rPr lang="es-ES" sz="2400" spc="-10" dirty="0">
                <a:effectLst/>
                <a:latin typeface="Arial" panose="020B0604020202020204" pitchFamily="34" charset="0"/>
                <a:ea typeface="Times New Roman" panose="02020603050405020304" pitchFamily="18" charset="0"/>
                <a:cs typeface="Arial" panose="020B0604020202020204" pitchFamily="34" charset="0"/>
              </a:rPr>
              <a:t> </a:t>
            </a:r>
            <a:r>
              <a:rPr lang="es-ES" sz="2400" dirty="0">
                <a:effectLst/>
                <a:latin typeface="Arial" panose="020B0604020202020204" pitchFamily="34" charset="0"/>
                <a:ea typeface="Times New Roman" panose="02020603050405020304" pitchFamily="18" charset="0"/>
                <a:cs typeface="Arial" panose="020B0604020202020204" pitchFamily="34" charset="0"/>
              </a:rPr>
              <a:t>esa</a:t>
            </a:r>
            <a:r>
              <a:rPr lang="es-ES" sz="2400" spc="-15" dirty="0">
                <a:effectLst/>
                <a:latin typeface="Arial" panose="020B0604020202020204" pitchFamily="34" charset="0"/>
                <a:ea typeface="Times New Roman" panose="02020603050405020304" pitchFamily="18" charset="0"/>
                <a:cs typeface="Arial" panose="020B0604020202020204" pitchFamily="34" charset="0"/>
              </a:rPr>
              <a:t> </a:t>
            </a:r>
            <a:r>
              <a:rPr lang="es-ES" sz="2400" dirty="0">
                <a:effectLst/>
                <a:latin typeface="Arial" panose="020B0604020202020204" pitchFamily="34" charset="0"/>
                <a:ea typeface="Times New Roman" panose="02020603050405020304" pitchFamily="18" charset="0"/>
                <a:cs typeface="Arial" panose="020B0604020202020204" pitchFamily="34" charset="0"/>
              </a:rPr>
              <a:t>aproximación</a:t>
            </a:r>
            <a:r>
              <a:rPr lang="es-ES" sz="2400" spc="-15" dirty="0">
                <a:effectLst/>
                <a:latin typeface="Arial" panose="020B0604020202020204" pitchFamily="34" charset="0"/>
                <a:ea typeface="Times New Roman" panose="02020603050405020304" pitchFamily="18" charset="0"/>
                <a:cs typeface="Arial" panose="020B0604020202020204" pitchFamily="34" charset="0"/>
              </a:rPr>
              <a:t> </a:t>
            </a:r>
            <a:r>
              <a:rPr lang="es-ES" sz="2400" dirty="0">
                <a:effectLst/>
                <a:latin typeface="Arial" panose="020B0604020202020204" pitchFamily="34" charset="0"/>
                <a:ea typeface="Times New Roman" panose="02020603050405020304" pitchFamily="18" charset="0"/>
                <a:cs typeface="Arial" panose="020B0604020202020204" pitchFamily="34" charset="0"/>
              </a:rPr>
              <a:t>es</a:t>
            </a:r>
            <a:r>
              <a:rPr lang="es-ES" sz="2400" spc="-10" dirty="0">
                <a:effectLst/>
                <a:latin typeface="Arial" panose="020B0604020202020204" pitchFamily="34" charset="0"/>
                <a:ea typeface="Times New Roman" panose="02020603050405020304" pitchFamily="18" charset="0"/>
                <a:cs typeface="Arial" panose="020B0604020202020204" pitchFamily="34" charset="0"/>
              </a:rPr>
              <a:t> </a:t>
            </a:r>
            <a:r>
              <a:rPr lang="es-ES" sz="2400" dirty="0">
                <a:effectLst/>
                <a:latin typeface="Arial" panose="020B0604020202020204" pitchFamily="34" charset="0"/>
                <a:ea typeface="Times New Roman" panose="02020603050405020304" pitchFamily="18" charset="0"/>
                <a:cs typeface="Arial" panose="020B0604020202020204" pitchFamily="34" charset="0"/>
              </a:rPr>
              <a:t>con</a:t>
            </a:r>
            <a:r>
              <a:rPr lang="es-ES" sz="2400" spc="-25" dirty="0">
                <a:latin typeface="Arial" panose="020B0604020202020204" pitchFamily="34" charset="0"/>
                <a:ea typeface="Times New Roman" panose="02020603050405020304" pitchFamily="18" charset="0"/>
                <a:cs typeface="Arial" panose="020B0604020202020204" pitchFamily="34" charset="0"/>
              </a:rPr>
              <a:t>fia</a:t>
            </a:r>
            <a:r>
              <a:rPr lang="es-ES" sz="2400" dirty="0">
                <a:effectLst/>
                <a:latin typeface="Arial" panose="020B0604020202020204" pitchFamily="34" charset="0"/>
                <a:ea typeface="Times New Roman" panose="02020603050405020304" pitchFamily="18" charset="0"/>
                <a:cs typeface="Arial" panose="020B0604020202020204" pitchFamily="34" charset="0"/>
              </a:rPr>
              <a:t>ble</a:t>
            </a:r>
            <a:r>
              <a:rPr lang="es-ES" sz="2400" spc="-15" dirty="0">
                <a:effectLst/>
                <a:latin typeface="Arial" panose="020B0604020202020204" pitchFamily="34" charset="0"/>
                <a:ea typeface="Times New Roman" panose="02020603050405020304" pitchFamily="18" charset="0"/>
                <a:cs typeface="Arial" panose="020B0604020202020204" pitchFamily="34" charset="0"/>
              </a:rPr>
              <a:t> </a:t>
            </a:r>
            <a:r>
              <a:rPr lang="es-ES" sz="2400" dirty="0">
                <a:effectLst/>
                <a:latin typeface="Arial" panose="020B0604020202020204" pitchFamily="34" charset="0"/>
                <a:ea typeface="Times New Roman" panose="02020603050405020304" pitchFamily="18" charset="0"/>
                <a:cs typeface="Arial" panose="020B0604020202020204" pitchFamily="34" charset="0"/>
              </a:rPr>
              <a:t>y</a:t>
            </a:r>
            <a:r>
              <a:rPr lang="es-ES" sz="2400" spc="-15" dirty="0">
                <a:effectLst/>
                <a:latin typeface="Arial" panose="020B0604020202020204" pitchFamily="34" charset="0"/>
                <a:ea typeface="Times New Roman" panose="02020603050405020304" pitchFamily="18" charset="0"/>
                <a:cs typeface="Arial" panose="020B0604020202020204" pitchFamily="34" charset="0"/>
              </a:rPr>
              <a:t> </a:t>
            </a:r>
            <a:r>
              <a:rPr lang="es-ES" sz="2400" dirty="0">
                <a:effectLst/>
                <a:latin typeface="Arial" panose="020B0604020202020204" pitchFamily="34" charset="0"/>
                <a:ea typeface="Times New Roman" panose="02020603050405020304" pitchFamily="18" charset="0"/>
                <a:cs typeface="Arial" panose="020B0604020202020204" pitchFamily="34" charset="0"/>
              </a:rPr>
              <a:t>cómo</a:t>
            </a:r>
            <a:r>
              <a:rPr lang="es-ES" sz="2400" spc="-10" dirty="0">
                <a:effectLst/>
                <a:latin typeface="Arial" panose="020B0604020202020204" pitchFamily="34" charset="0"/>
                <a:ea typeface="Times New Roman" panose="02020603050405020304" pitchFamily="18" charset="0"/>
                <a:cs typeface="Arial" panose="020B0604020202020204" pitchFamily="34" charset="0"/>
              </a:rPr>
              <a:t> </a:t>
            </a:r>
            <a:r>
              <a:rPr lang="es-ES" sz="2400" dirty="0">
                <a:effectLst/>
                <a:latin typeface="Arial" panose="020B0604020202020204" pitchFamily="34" charset="0"/>
                <a:ea typeface="Times New Roman" panose="02020603050405020304" pitchFamily="18" charset="0"/>
                <a:cs typeface="Arial" panose="020B0604020202020204" pitchFamily="34" charset="0"/>
              </a:rPr>
              <a:t>garantizar</a:t>
            </a:r>
            <a:r>
              <a:rPr lang="es-ES" sz="2400" spc="-15" dirty="0">
                <a:effectLst/>
                <a:latin typeface="Arial" panose="020B0604020202020204" pitchFamily="34" charset="0"/>
                <a:ea typeface="Times New Roman" panose="02020603050405020304" pitchFamily="18" charset="0"/>
                <a:cs typeface="Arial" panose="020B0604020202020204" pitchFamily="34" charset="0"/>
              </a:rPr>
              <a:t> </a:t>
            </a:r>
            <a:r>
              <a:rPr lang="es-ES" sz="2400" dirty="0">
                <a:effectLst/>
                <a:latin typeface="Arial" panose="020B0604020202020204" pitchFamily="34" charset="0"/>
                <a:ea typeface="Times New Roman" panose="02020603050405020304" pitchFamily="18" charset="0"/>
                <a:cs typeface="Arial" panose="020B0604020202020204" pitchFamily="34" charset="0"/>
              </a:rPr>
              <a:t>su</a:t>
            </a:r>
            <a:r>
              <a:rPr lang="es-ES" sz="2400" spc="-15" dirty="0">
                <a:effectLst/>
                <a:latin typeface="Arial" panose="020B0604020202020204" pitchFamily="34" charset="0"/>
                <a:ea typeface="Times New Roman" panose="02020603050405020304" pitchFamily="18" charset="0"/>
                <a:cs typeface="Arial" panose="020B0604020202020204" pitchFamily="34" charset="0"/>
              </a:rPr>
              <a:t> </a:t>
            </a:r>
            <a:r>
              <a:rPr lang="es-ES" sz="2400" dirty="0">
                <a:effectLst/>
                <a:latin typeface="Arial" panose="020B0604020202020204" pitchFamily="34" charset="0"/>
                <a:ea typeface="Times New Roman" panose="02020603050405020304" pitchFamily="18" charset="0"/>
                <a:cs typeface="Arial" panose="020B0604020202020204" pitchFamily="34" charset="0"/>
              </a:rPr>
              <a:t>precisión</a:t>
            </a:r>
            <a:r>
              <a:rPr lang="es-ES" sz="2400" spc="-15" dirty="0">
                <a:effectLst/>
                <a:latin typeface="Arial" panose="020B0604020202020204" pitchFamily="34" charset="0"/>
                <a:ea typeface="Times New Roman" panose="02020603050405020304" pitchFamily="18" charset="0"/>
                <a:cs typeface="Arial" panose="020B0604020202020204" pitchFamily="34" charset="0"/>
              </a:rPr>
              <a:t> </a:t>
            </a:r>
            <a:r>
              <a:rPr lang="es-ES" sz="2400" dirty="0">
                <a:effectLst/>
                <a:latin typeface="Arial" panose="020B0604020202020204" pitchFamily="34" charset="0"/>
                <a:ea typeface="Times New Roman" panose="02020603050405020304" pitchFamily="18" charset="0"/>
                <a:cs typeface="Arial" panose="020B0604020202020204" pitchFamily="34" charset="0"/>
              </a:rPr>
              <a:t>en</a:t>
            </a:r>
            <a:r>
              <a:rPr lang="es-ES" sz="2400" spc="-10" dirty="0">
                <a:effectLst/>
                <a:latin typeface="Arial" panose="020B0604020202020204" pitchFamily="34" charset="0"/>
                <a:ea typeface="Times New Roman" panose="02020603050405020304" pitchFamily="18" charset="0"/>
                <a:cs typeface="Arial" panose="020B0604020202020204" pitchFamily="34" charset="0"/>
              </a:rPr>
              <a:t> </a:t>
            </a:r>
            <a:r>
              <a:rPr lang="es-ES" sz="2400" dirty="0">
                <a:effectLst/>
                <a:latin typeface="Arial" panose="020B0604020202020204" pitchFamily="34" charset="0"/>
                <a:ea typeface="Times New Roman" panose="02020603050405020304" pitchFamily="18" charset="0"/>
                <a:cs typeface="Arial" panose="020B0604020202020204" pitchFamily="34" charset="0"/>
              </a:rPr>
              <a:t>todos</a:t>
            </a:r>
            <a:r>
              <a:rPr lang="es-ES" sz="2400" spc="-15" dirty="0">
                <a:effectLst/>
                <a:latin typeface="Arial" panose="020B0604020202020204" pitchFamily="34" charset="0"/>
                <a:ea typeface="Times New Roman" panose="02020603050405020304" pitchFamily="18" charset="0"/>
                <a:cs typeface="Arial" panose="020B0604020202020204" pitchFamily="34" charset="0"/>
              </a:rPr>
              <a:t> </a:t>
            </a:r>
            <a:r>
              <a:rPr lang="es-ES" sz="2400" dirty="0">
                <a:effectLst/>
                <a:latin typeface="Arial" panose="020B0604020202020204" pitchFamily="34" charset="0"/>
                <a:ea typeface="Times New Roman" panose="02020603050405020304" pitchFamily="18" charset="0"/>
                <a:cs typeface="Arial" panose="020B0604020202020204" pitchFamily="34" charset="0"/>
              </a:rPr>
              <a:t>los </a:t>
            </a:r>
            <a:r>
              <a:rPr lang="es-ES" sz="2400" spc="-10" dirty="0">
                <a:effectLst/>
                <a:latin typeface="Arial" panose="020B0604020202020204" pitchFamily="34" charset="0"/>
                <a:ea typeface="Times New Roman" panose="02020603050405020304" pitchFamily="18" charset="0"/>
                <a:cs typeface="Arial" panose="020B0604020202020204" pitchFamily="34" charset="0"/>
              </a:rPr>
              <a:t>casos.</a:t>
            </a:r>
            <a:endParaRPr lang="en-US" altLang="es-ES" sz="2400" dirty="0">
              <a:latin typeface="Arial" panose="020B0604020202020204" pitchFamily="34" charset="0"/>
              <a:cs typeface="Arial" panose="020B0604020202020204" pitchFamily="34"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0F3328-BF3F-C30D-1195-0BE826E828DD}"/>
              </a:ext>
            </a:extLst>
          </p:cNvPr>
          <p:cNvSpPr>
            <a:spLocks noGrp="1"/>
          </p:cNvSpPr>
          <p:nvPr>
            <p:ph type="title"/>
          </p:nvPr>
        </p:nvSpPr>
        <p:spPr>
          <a:xfrm>
            <a:off x="323528" y="188640"/>
            <a:ext cx="3943350" cy="543595"/>
          </a:xfrm>
        </p:spPr>
        <p:txBody>
          <a:bodyPr/>
          <a:lstStyle/>
          <a:p>
            <a:r>
              <a:rPr lang="es-ES" sz="3200" b="1" dirty="0">
                <a:latin typeface="Arial" panose="020B0604020202020204" pitchFamily="34" charset="0"/>
                <a:cs typeface="Arial" panose="020B0604020202020204" pitchFamily="34" charset="0"/>
              </a:rPr>
              <a:t>Fases del proyecto</a:t>
            </a:r>
          </a:p>
        </p:txBody>
      </p:sp>
      <p:sp>
        <p:nvSpPr>
          <p:cNvPr id="3" name="Marcador de contenido 2">
            <a:extLst>
              <a:ext uri="{FF2B5EF4-FFF2-40B4-BE49-F238E27FC236}">
                <a16:creationId xmlns:a16="http://schemas.microsoft.com/office/drawing/2014/main" id="{1D5D34C4-172A-689B-DED9-B490C92A4C2A}"/>
              </a:ext>
            </a:extLst>
          </p:cNvPr>
          <p:cNvSpPr>
            <a:spLocks noGrp="1"/>
          </p:cNvSpPr>
          <p:nvPr>
            <p:ph idx="1"/>
          </p:nvPr>
        </p:nvSpPr>
        <p:spPr>
          <a:xfrm>
            <a:off x="179512" y="1027906"/>
            <a:ext cx="8784976" cy="4802187"/>
          </a:xfrm>
        </p:spPr>
        <p:txBody>
          <a:bodyPr/>
          <a:lstStyle/>
          <a:p>
            <a:pPr marL="0" indent="0" algn="just">
              <a:lnSpc>
                <a:spcPct val="150000"/>
              </a:lnSpc>
              <a:buNone/>
            </a:pPr>
            <a:r>
              <a:rPr lang="es-ES" sz="2000" b="1" dirty="0">
                <a:latin typeface="Arial" panose="020B0604020202020204" pitchFamily="34" charset="0"/>
                <a:ea typeface="Times New Roman" panose="02020603050405020304" pitchFamily="18" charset="0"/>
                <a:cs typeface="Arial" panose="020B0604020202020204" pitchFamily="34" charset="0"/>
              </a:rPr>
              <a:t>1.</a:t>
            </a:r>
            <a:r>
              <a:rPr lang="es-ES" sz="2000" b="1" dirty="0">
                <a:effectLst/>
                <a:latin typeface="Arial" panose="020B0604020202020204" pitchFamily="34" charset="0"/>
                <a:ea typeface="Times New Roman" panose="02020603050405020304" pitchFamily="18" charset="0"/>
                <a:cs typeface="Arial" panose="020B0604020202020204" pitchFamily="34" charset="0"/>
              </a:rPr>
              <a:t> </a:t>
            </a:r>
            <a:r>
              <a:rPr lang="es-ES" sz="2000" b="1" dirty="0">
                <a:latin typeface="Arial" panose="020B0604020202020204" pitchFamily="34" charset="0"/>
                <a:ea typeface="Times New Roman" panose="02020603050405020304" pitchFamily="18" charset="0"/>
                <a:cs typeface="Arial" panose="020B0604020202020204" pitchFamily="34" charset="0"/>
              </a:rPr>
              <a:t>R</a:t>
            </a:r>
            <a:r>
              <a:rPr lang="es-ES" sz="2000" b="1" dirty="0">
                <a:effectLst/>
                <a:latin typeface="Arial" panose="020B0604020202020204" pitchFamily="34" charset="0"/>
                <a:ea typeface="Times New Roman" panose="02020603050405020304" pitchFamily="18" charset="0"/>
                <a:cs typeface="Arial" panose="020B0604020202020204" pitchFamily="34" charset="0"/>
              </a:rPr>
              <a:t>egresión</a:t>
            </a:r>
            <a:r>
              <a:rPr lang="es-ES" sz="2000" b="1" spc="50" dirty="0">
                <a:effectLst/>
                <a:latin typeface="Arial" panose="020B0604020202020204" pitchFamily="34" charset="0"/>
                <a:ea typeface="Times New Roman" panose="02020603050405020304" pitchFamily="18" charset="0"/>
                <a:cs typeface="Arial" panose="020B0604020202020204" pitchFamily="34" charset="0"/>
              </a:rPr>
              <a:t> </a:t>
            </a:r>
            <a:r>
              <a:rPr lang="es-ES" sz="2000" b="1" spc="-10" dirty="0">
                <a:effectLst/>
                <a:latin typeface="Arial" panose="020B0604020202020204" pitchFamily="34" charset="0"/>
                <a:ea typeface="Times New Roman" panose="02020603050405020304" pitchFamily="18" charset="0"/>
                <a:cs typeface="Arial" panose="020B0604020202020204" pitchFamily="34" charset="0"/>
              </a:rPr>
              <a:t>directa: </a:t>
            </a:r>
            <a:r>
              <a:rPr lang="es-ES" sz="2000" dirty="0">
                <a:effectLst/>
                <a:latin typeface="Arial" panose="020B0604020202020204" pitchFamily="34" charset="0"/>
                <a:ea typeface="Times New Roman" panose="02020603050405020304" pitchFamily="18" charset="0"/>
                <a:cs typeface="Arial" panose="020B0604020202020204" pitchFamily="34" charset="0"/>
              </a:rPr>
              <a:t>Se entrenó una red neuronal multicapa (MLP) para predecir directamente los valores numéricos de la inversa, comparando su salida contra la inversa real mediante el error cuadrático medio (MSE). La pérdida de entrenamiento mostraba una disminución consistente, lo que en una primera instancia sugería un aprendizaje correcto.</a:t>
            </a:r>
          </a:p>
          <a:p>
            <a:pPr marL="0" indent="0" algn="just">
              <a:lnSpc>
                <a:spcPct val="150000"/>
              </a:lnSpc>
              <a:buNone/>
            </a:pPr>
            <a:r>
              <a:rPr lang="es-ES" sz="2000" b="1" dirty="0">
                <a:latin typeface="Arial" panose="020B0604020202020204" pitchFamily="34" charset="0"/>
                <a:ea typeface="Times New Roman" panose="02020603050405020304" pitchFamily="18" charset="0"/>
                <a:cs typeface="Arial" panose="020B0604020202020204" pitchFamily="34" charset="0"/>
              </a:rPr>
              <a:t>2. </a:t>
            </a:r>
            <a:r>
              <a:rPr lang="es-ES" sz="2000" b="1" dirty="0">
                <a:effectLst/>
                <a:latin typeface="Arial" panose="020B0604020202020204" pitchFamily="34" charset="0"/>
                <a:ea typeface="Times New Roman" panose="02020603050405020304" pitchFamily="18" charset="0"/>
                <a:cs typeface="Arial" panose="020B0604020202020204" pitchFamily="34" charset="0"/>
              </a:rPr>
              <a:t>Diagnóstico:</a:t>
            </a:r>
            <a:r>
              <a:rPr lang="es-ES" sz="2000" b="1" spc="12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sobreajuste</a:t>
            </a:r>
            <a:r>
              <a:rPr lang="es-ES" sz="2000" spc="12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a:t>
            </a:r>
            <a:r>
              <a:rPr lang="es-ES" sz="2000" dirty="0" err="1">
                <a:effectLst/>
                <a:latin typeface="Arial" panose="020B0604020202020204" pitchFamily="34" charset="0"/>
                <a:ea typeface="Times New Roman" panose="02020603050405020304" pitchFamily="18" charset="0"/>
                <a:cs typeface="Arial" panose="020B0604020202020204" pitchFamily="34" charset="0"/>
              </a:rPr>
              <a:t>over</a:t>
            </a:r>
            <a:r>
              <a:rPr lang="es-ES" sz="2000" spc="50" dirty="0" err="1">
                <a:latin typeface="Arial" panose="020B0604020202020204" pitchFamily="34" charset="0"/>
                <a:ea typeface="Times New Roman" panose="02020603050405020304" pitchFamily="18" charset="0"/>
                <a:cs typeface="Arial" panose="020B0604020202020204" pitchFamily="34" charset="0"/>
              </a:rPr>
              <a:t>f</a:t>
            </a:r>
            <a:r>
              <a:rPr lang="es-ES" sz="2000" spc="-10" dirty="0" err="1">
                <a:effectLst/>
                <a:latin typeface="Arial" panose="020B0604020202020204" pitchFamily="34" charset="0"/>
                <a:ea typeface="Times New Roman" panose="02020603050405020304" pitchFamily="18" charset="0"/>
                <a:cs typeface="Arial" panose="020B0604020202020204" pitchFamily="34" charset="0"/>
              </a:rPr>
              <a:t>tting</a:t>
            </a:r>
            <a:r>
              <a:rPr lang="es-ES" sz="2000" spc="-10" dirty="0">
                <a:effectLst/>
                <a:latin typeface="Arial" panose="020B0604020202020204" pitchFamily="34" charset="0"/>
                <a:ea typeface="Times New Roman" panose="02020603050405020304" pitchFamily="18" charset="0"/>
                <a:cs typeface="Arial" panose="020B0604020202020204" pitchFamily="34" charset="0"/>
              </a:rPr>
              <a:t>): Al empezar a introducir datos de prueba (conjunto de matrices nunca antes vista) se encontró un error hasta 190 veces mayor que en el entrenamiento. Lo cual significaba que el modelo memorizaba las matrices de entrenamiento y su inversa.</a:t>
            </a:r>
          </a:p>
          <a:p>
            <a:pPr algn="just">
              <a:lnSpc>
                <a:spcPct val="150000"/>
              </a:lnSpc>
            </a:pPr>
            <a:endParaRPr lang="es-MX" sz="2000" dirty="0">
              <a:effectLst/>
              <a:latin typeface="Arial" panose="020B0604020202020204" pitchFamily="34" charset="0"/>
              <a:ea typeface="Times New Roman" panose="02020603050405020304" pitchFamily="18" charset="0"/>
              <a:cs typeface="Arial" panose="020B0604020202020204" pitchFamily="34" charset="0"/>
            </a:endParaRPr>
          </a:p>
          <a:p>
            <a:endParaRPr lang="es-ES" sz="1800" dirty="0">
              <a:effectLst/>
              <a:ea typeface="Times New Roman" panose="02020603050405020304" pitchFamily="18" charset="0"/>
            </a:endParaRPr>
          </a:p>
          <a:p>
            <a:endParaRPr lang="es-MX" sz="1800" dirty="0">
              <a:effectLst/>
              <a:ea typeface="Times New Roman" panose="02020603050405020304" pitchFamily="18" charset="0"/>
            </a:endParaRPr>
          </a:p>
          <a:p>
            <a:endParaRPr lang="es-ES" dirty="0"/>
          </a:p>
        </p:txBody>
      </p:sp>
    </p:spTree>
    <p:extLst>
      <p:ext uri="{BB962C8B-B14F-4D97-AF65-F5344CB8AC3E}">
        <p14:creationId xmlns:p14="http://schemas.microsoft.com/office/powerpoint/2010/main" val="313539907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B8D9F5D-BC09-DC74-D98A-654ABC2BF16C}"/>
              </a:ext>
            </a:extLst>
          </p:cNvPr>
          <p:cNvSpPr>
            <a:spLocks noGrp="1"/>
          </p:cNvSpPr>
          <p:nvPr>
            <p:ph idx="1"/>
          </p:nvPr>
        </p:nvSpPr>
        <p:spPr>
          <a:xfrm>
            <a:off x="251520" y="393651"/>
            <a:ext cx="8640960" cy="5556275"/>
          </a:xfrm>
        </p:spPr>
        <p:txBody>
          <a:bodyPr/>
          <a:lstStyle/>
          <a:p>
            <a:pPr marL="0" indent="0" algn="just">
              <a:lnSpc>
                <a:spcPct val="150000"/>
              </a:lnSpc>
              <a:buNone/>
            </a:pPr>
            <a:r>
              <a:rPr lang="es-ES" sz="2000" b="1" spc="-10" dirty="0">
                <a:latin typeface="Arial" panose="020B0604020202020204" pitchFamily="34" charset="0"/>
                <a:ea typeface="Times New Roman" panose="02020603050405020304" pitchFamily="18" charset="0"/>
                <a:cs typeface="Arial" panose="020B0604020202020204" pitchFamily="34" charset="0"/>
              </a:rPr>
              <a:t>3. </a:t>
            </a:r>
            <a:r>
              <a:rPr lang="es-ES" sz="2000" b="1" dirty="0">
                <a:latin typeface="Arial" panose="020B0604020202020204" pitchFamily="34" charset="0"/>
                <a:ea typeface="Times New Roman" panose="02020603050405020304" pitchFamily="18" charset="0"/>
                <a:cs typeface="Arial" panose="020B0604020202020204" pitchFamily="34" charset="0"/>
              </a:rPr>
              <a:t>Identificación</a:t>
            </a:r>
            <a:r>
              <a:rPr lang="es-ES" sz="2000" b="1" spc="90" dirty="0">
                <a:latin typeface="Arial" panose="020B0604020202020204" pitchFamily="34" charset="0"/>
                <a:ea typeface="Times New Roman" panose="02020603050405020304" pitchFamily="18" charset="0"/>
                <a:cs typeface="Arial" panose="020B0604020202020204" pitchFamily="34" charset="0"/>
              </a:rPr>
              <a:t> </a:t>
            </a:r>
            <a:r>
              <a:rPr lang="es-ES" sz="2000" b="1" dirty="0">
                <a:latin typeface="Arial" panose="020B0604020202020204" pitchFamily="34" charset="0"/>
                <a:ea typeface="Times New Roman" panose="02020603050405020304" pitchFamily="18" charset="0"/>
                <a:cs typeface="Arial" panose="020B0604020202020204" pitchFamily="34" charset="0"/>
              </a:rPr>
              <a:t>de</a:t>
            </a:r>
            <a:r>
              <a:rPr lang="es-ES" sz="2000" b="1" spc="95" dirty="0">
                <a:latin typeface="Arial" panose="020B0604020202020204" pitchFamily="34" charset="0"/>
                <a:ea typeface="Times New Roman" panose="02020603050405020304" pitchFamily="18" charset="0"/>
                <a:cs typeface="Arial" panose="020B0604020202020204" pitchFamily="34" charset="0"/>
              </a:rPr>
              <a:t> </a:t>
            </a:r>
            <a:r>
              <a:rPr lang="es-ES" sz="2000" b="1" dirty="0">
                <a:latin typeface="Arial" panose="020B0604020202020204" pitchFamily="34" charset="0"/>
                <a:ea typeface="Times New Roman" panose="02020603050405020304" pitchFamily="18" charset="0"/>
                <a:cs typeface="Arial" panose="020B0604020202020204" pitchFamily="34" charset="0"/>
              </a:rPr>
              <a:t>la</a:t>
            </a:r>
            <a:r>
              <a:rPr lang="es-ES" sz="2000" b="1" spc="90" dirty="0">
                <a:latin typeface="Arial" panose="020B0604020202020204" pitchFamily="34" charset="0"/>
                <a:ea typeface="Times New Roman" panose="02020603050405020304" pitchFamily="18" charset="0"/>
                <a:cs typeface="Arial" panose="020B0604020202020204" pitchFamily="34" charset="0"/>
              </a:rPr>
              <a:t> </a:t>
            </a:r>
            <a:r>
              <a:rPr lang="es-ES" sz="2000" b="1" dirty="0">
                <a:latin typeface="Arial" panose="020B0604020202020204" pitchFamily="34" charset="0"/>
                <a:ea typeface="Times New Roman" panose="02020603050405020304" pitchFamily="18" charset="0"/>
                <a:cs typeface="Arial" panose="020B0604020202020204" pitchFamily="34" charset="0"/>
              </a:rPr>
              <a:t>causa</a:t>
            </a:r>
            <a:r>
              <a:rPr lang="es-ES" sz="2000" b="1" spc="95" dirty="0">
                <a:latin typeface="Arial" panose="020B0604020202020204" pitchFamily="34" charset="0"/>
                <a:ea typeface="Times New Roman" panose="02020603050405020304" pitchFamily="18" charset="0"/>
                <a:cs typeface="Arial" panose="020B0604020202020204" pitchFamily="34" charset="0"/>
              </a:rPr>
              <a:t> </a:t>
            </a:r>
            <a:r>
              <a:rPr lang="es-ES" sz="2000" b="1" spc="-10" dirty="0">
                <a:latin typeface="Arial" panose="020B0604020202020204" pitchFamily="34" charset="0"/>
                <a:ea typeface="Times New Roman" panose="02020603050405020304" pitchFamily="18" charset="0"/>
                <a:cs typeface="Arial" panose="020B0604020202020204" pitchFamily="34" charset="0"/>
              </a:rPr>
              <a:t>raíz: </a:t>
            </a:r>
            <a:r>
              <a:rPr lang="es-ES" sz="2000" dirty="0">
                <a:latin typeface="Arial" panose="020B0604020202020204" pitchFamily="34" charset="0"/>
                <a:ea typeface="Times New Roman" panose="02020603050405020304" pitchFamily="18" charset="0"/>
                <a:cs typeface="Arial" panose="020B0604020202020204" pitchFamily="34" charset="0"/>
              </a:rPr>
              <a:t>Se</a:t>
            </a:r>
            <a:r>
              <a:rPr lang="es-ES" sz="2000" spc="-35"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determinó</a:t>
            </a:r>
            <a:r>
              <a:rPr lang="es-ES" sz="2000" spc="-35"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que</a:t>
            </a:r>
            <a:r>
              <a:rPr lang="es-ES" sz="2000" spc="-35"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los valores de una matriz inversa pueden alcanzar magnitudes extremas según el condicionamiento de la matriz original (se observaron valores superiores a 2600 en un </a:t>
            </a:r>
            <a:r>
              <a:rPr lang="es-ES" sz="2000" dirty="0" err="1">
                <a:latin typeface="Arial" panose="020B0604020202020204" pitchFamily="34" charset="0"/>
                <a:ea typeface="Times New Roman" panose="02020603050405020304" pitchFamily="18" charset="0"/>
                <a:cs typeface="Arial" panose="020B0604020202020204" pitchFamily="34" charset="0"/>
              </a:rPr>
              <a:t>dataset</a:t>
            </a:r>
            <a:r>
              <a:rPr lang="es-ES" sz="2000" dirty="0">
                <a:latin typeface="Arial" panose="020B0604020202020204" pitchFamily="34" charset="0"/>
                <a:ea typeface="Times New Roman" panose="02020603050405020304" pitchFamily="18" charset="0"/>
                <a:cs typeface="Arial" panose="020B0604020202020204" pitchFamily="34" charset="0"/>
              </a:rPr>
              <a:t> con matrices de condicionamiento moderado) lo cual vuelve numéricamente inestable la regresión directa sobre esos valores.</a:t>
            </a:r>
            <a:endParaRPr lang="es-MX" sz="2000" dirty="0">
              <a:latin typeface="Arial" panose="020B0604020202020204" pitchFamily="34" charset="0"/>
              <a:ea typeface="Times New Roman" panose="02020603050405020304" pitchFamily="18" charset="0"/>
              <a:cs typeface="Arial" panose="020B0604020202020204" pitchFamily="34" charset="0"/>
            </a:endParaRPr>
          </a:p>
          <a:p>
            <a:pPr marL="0" indent="0" algn="just">
              <a:lnSpc>
                <a:spcPct val="150000"/>
              </a:lnSpc>
              <a:buNone/>
            </a:pPr>
            <a:r>
              <a:rPr lang="es-ES" sz="2000" b="1" dirty="0">
                <a:latin typeface="Arial" panose="020B0604020202020204" pitchFamily="34" charset="0"/>
                <a:cs typeface="Arial" panose="020B0604020202020204" pitchFamily="34" charset="0"/>
              </a:rPr>
              <a:t>4.</a:t>
            </a:r>
            <a:r>
              <a:rPr lang="es-ES" sz="2000" b="1" dirty="0">
                <a:latin typeface="Arial" panose="020B0604020202020204" pitchFamily="34" charset="0"/>
                <a:ea typeface="Times New Roman" panose="02020603050405020304" pitchFamily="18" charset="0"/>
                <a:cs typeface="Arial" panose="020B0604020202020204" pitchFamily="34" charset="0"/>
              </a:rPr>
              <a:t> Rediseño</a:t>
            </a:r>
            <a:r>
              <a:rPr lang="es-ES" sz="2000" b="1" spc="80" dirty="0">
                <a:latin typeface="Arial" panose="020B0604020202020204" pitchFamily="34" charset="0"/>
                <a:ea typeface="Times New Roman" panose="02020603050405020304" pitchFamily="18" charset="0"/>
                <a:cs typeface="Arial" panose="020B0604020202020204" pitchFamily="34" charset="0"/>
              </a:rPr>
              <a:t> </a:t>
            </a:r>
            <a:r>
              <a:rPr lang="es-ES" sz="2000" b="1" dirty="0">
                <a:latin typeface="Arial" panose="020B0604020202020204" pitchFamily="34" charset="0"/>
                <a:ea typeface="Times New Roman" panose="02020603050405020304" pitchFamily="18" charset="0"/>
                <a:cs typeface="Arial" panose="020B0604020202020204" pitchFamily="34" charset="0"/>
              </a:rPr>
              <a:t>de</a:t>
            </a:r>
            <a:r>
              <a:rPr lang="es-ES" sz="2000" b="1" spc="80" dirty="0">
                <a:latin typeface="Arial" panose="020B0604020202020204" pitchFamily="34" charset="0"/>
                <a:ea typeface="Times New Roman" panose="02020603050405020304" pitchFamily="18" charset="0"/>
                <a:cs typeface="Arial" panose="020B0604020202020204" pitchFamily="34" charset="0"/>
              </a:rPr>
              <a:t> </a:t>
            </a:r>
            <a:r>
              <a:rPr lang="es-ES" sz="2000" b="1" dirty="0">
                <a:latin typeface="Arial" panose="020B0604020202020204" pitchFamily="34" charset="0"/>
                <a:ea typeface="Times New Roman" panose="02020603050405020304" pitchFamily="18" charset="0"/>
                <a:cs typeface="Arial" panose="020B0604020202020204" pitchFamily="34" charset="0"/>
              </a:rPr>
              <a:t>la</a:t>
            </a:r>
            <a:r>
              <a:rPr lang="es-ES" sz="2000" b="1" spc="75" dirty="0">
                <a:latin typeface="Arial" panose="020B0604020202020204" pitchFamily="34" charset="0"/>
                <a:ea typeface="Times New Roman" panose="02020603050405020304" pitchFamily="18" charset="0"/>
                <a:cs typeface="Arial" panose="020B0604020202020204" pitchFamily="34" charset="0"/>
              </a:rPr>
              <a:t> </a:t>
            </a:r>
            <a:r>
              <a:rPr lang="es-ES" sz="2000" b="1" dirty="0">
                <a:latin typeface="Arial" panose="020B0604020202020204" pitchFamily="34" charset="0"/>
                <a:ea typeface="Times New Roman" panose="02020603050405020304" pitchFamily="18" charset="0"/>
                <a:cs typeface="Arial" panose="020B0604020202020204" pitchFamily="34" charset="0"/>
              </a:rPr>
              <a:t>función</a:t>
            </a:r>
            <a:r>
              <a:rPr lang="es-ES" sz="2000" b="1" spc="75" dirty="0">
                <a:latin typeface="Arial" panose="020B0604020202020204" pitchFamily="34" charset="0"/>
                <a:ea typeface="Times New Roman" panose="02020603050405020304" pitchFamily="18" charset="0"/>
                <a:cs typeface="Arial" panose="020B0604020202020204" pitchFamily="34" charset="0"/>
              </a:rPr>
              <a:t> </a:t>
            </a:r>
            <a:r>
              <a:rPr lang="es-ES" sz="2000" b="1" dirty="0">
                <a:latin typeface="Arial" panose="020B0604020202020204" pitchFamily="34" charset="0"/>
                <a:ea typeface="Times New Roman" panose="02020603050405020304" pitchFamily="18" charset="0"/>
                <a:cs typeface="Arial" panose="020B0604020202020204" pitchFamily="34" charset="0"/>
              </a:rPr>
              <a:t>de</a:t>
            </a:r>
            <a:r>
              <a:rPr lang="es-ES" sz="2000" b="1" spc="75" dirty="0">
                <a:latin typeface="Arial" panose="020B0604020202020204" pitchFamily="34" charset="0"/>
                <a:ea typeface="Times New Roman" panose="02020603050405020304" pitchFamily="18" charset="0"/>
                <a:cs typeface="Arial" panose="020B0604020202020204" pitchFamily="34" charset="0"/>
              </a:rPr>
              <a:t> </a:t>
            </a:r>
            <a:r>
              <a:rPr lang="es-ES" sz="2000" b="1" spc="-10" dirty="0">
                <a:latin typeface="Arial" panose="020B0604020202020204" pitchFamily="34" charset="0"/>
                <a:ea typeface="Times New Roman" panose="02020603050405020304" pitchFamily="18" charset="0"/>
                <a:cs typeface="Arial" panose="020B0604020202020204" pitchFamily="34" charset="0"/>
              </a:rPr>
              <a:t>pérdida: </a:t>
            </a:r>
            <a:r>
              <a:rPr lang="es-ES" sz="2000" dirty="0">
                <a:latin typeface="Arial" panose="020B0604020202020204" pitchFamily="34" charset="0"/>
                <a:ea typeface="Times New Roman" panose="02020603050405020304" pitchFamily="18" charset="0"/>
                <a:cs typeface="Arial" panose="020B0604020202020204" pitchFamily="34" charset="0"/>
              </a:rPr>
              <a:t>Se</a:t>
            </a:r>
            <a:r>
              <a:rPr lang="es-ES" sz="2000" spc="-25"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sustituyó</a:t>
            </a:r>
            <a:r>
              <a:rPr lang="es-ES" sz="2000" spc="-25"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la</a:t>
            </a:r>
            <a:r>
              <a:rPr lang="es-ES" sz="2000" spc="-25"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comparación</a:t>
            </a:r>
            <a:r>
              <a:rPr lang="es-ES" sz="2000" spc="-25"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directa</a:t>
            </a:r>
            <a:r>
              <a:rPr lang="es-ES" sz="2000" spc="-25"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contra</a:t>
            </a:r>
            <a:r>
              <a:rPr lang="es-ES" sz="2000" spc="-25"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la</a:t>
            </a:r>
            <a:r>
              <a:rPr lang="es-ES" sz="2000" spc="-25"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inversa</a:t>
            </a:r>
            <a:r>
              <a:rPr lang="es-ES" sz="2000" spc="-25"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real</a:t>
            </a:r>
            <a:r>
              <a:rPr lang="es-ES" sz="2000" spc="-25"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por</a:t>
            </a:r>
            <a:r>
              <a:rPr lang="es-ES" sz="2000" spc="-25"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una</a:t>
            </a:r>
            <a:r>
              <a:rPr lang="es-ES" sz="2000" spc="-25"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pérdida</a:t>
            </a:r>
            <a:r>
              <a:rPr lang="es-ES" sz="2000" spc="-25"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algebraica </a:t>
            </a:r>
            <a:r>
              <a:rPr lang="es-ES" sz="2000" spc="-25" dirty="0">
                <a:latin typeface="Arial" panose="020B0604020202020204" pitchFamily="34" charset="0"/>
                <a:ea typeface="Times New Roman" panose="02020603050405020304" pitchFamily="18" charset="0"/>
                <a:cs typeface="Arial" panose="020B0604020202020204" pitchFamily="34" charset="0"/>
              </a:rPr>
              <a:t>                     . </a:t>
            </a:r>
            <a:r>
              <a:rPr lang="es-ES" sz="2000" dirty="0">
                <a:latin typeface="Arial" panose="020B0604020202020204" pitchFamily="34" charset="0"/>
                <a:ea typeface="Times New Roman" panose="02020603050405020304" pitchFamily="18" charset="0"/>
                <a:cs typeface="Arial" panose="020B0604020202020204" pitchFamily="34" charset="0"/>
              </a:rPr>
              <a:t>Este cambio mantiene siempre</a:t>
            </a:r>
            <a:r>
              <a:rPr lang="es-ES" sz="2000" spc="200"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un</a:t>
            </a:r>
            <a:r>
              <a:rPr lang="es-ES" sz="2000" spc="200"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objetivo</a:t>
            </a:r>
            <a:r>
              <a:rPr lang="es-ES" sz="2000" spc="200"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acotado</a:t>
            </a:r>
            <a:r>
              <a:rPr lang="es-ES" sz="2000" spc="200"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(la</a:t>
            </a:r>
            <a:r>
              <a:rPr lang="es-ES" sz="2000" spc="200"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identidad),</a:t>
            </a:r>
            <a:r>
              <a:rPr lang="es-ES" sz="2000" spc="200"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independientemente</a:t>
            </a:r>
            <a:r>
              <a:rPr lang="es-ES" sz="2000" spc="200"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del</a:t>
            </a:r>
            <a:r>
              <a:rPr lang="es-ES" sz="2000" spc="200"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condicionamiento</a:t>
            </a:r>
            <a:r>
              <a:rPr lang="es-ES" sz="2000" spc="200"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de A,</a:t>
            </a:r>
            <a:r>
              <a:rPr lang="es-ES" sz="2000" spc="-15"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y</a:t>
            </a:r>
            <a:r>
              <a:rPr lang="es-ES" sz="2000" spc="-10"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no</a:t>
            </a:r>
            <a:r>
              <a:rPr lang="es-ES" sz="2000" spc="-15"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requiere</a:t>
            </a:r>
            <a:r>
              <a:rPr lang="es-ES" sz="2000" spc="-15"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conocer</a:t>
            </a:r>
            <a:r>
              <a:rPr lang="es-ES" sz="2000" spc="-15"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la</a:t>
            </a:r>
            <a:r>
              <a:rPr lang="es-ES" sz="2000" spc="-15"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inversa</a:t>
            </a:r>
            <a:r>
              <a:rPr lang="es-ES" sz="2000" spc="-15"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real</a:t>
            </a:r>
            <a:r>
              <a:rPr lang="es-ES" sz="2000" spc="-10"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durante</a:t>
            </a:r>
            <a:r>
              <a:rPr lang="es-ES" sz="2000" spc="-10"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el</a:t>
            </a:r>
            <a:r>
              <a:rPr lang="es-ES" sz="2000" spc="-15" dirty="0">
                <a:latin typeface="Arial" panose="020B0604020202020204" pitchFamily="34" charset="0"/>
                <a:ea typeface="Times New Roman" panose="02020603050405020304" pitchFamily="18" charset="0"/>
                <a:cs typeface="Arial" panose="020B0604020202020204" pitchFamily="34" charset="0"/>
              </a:rPr>
              <a:t> </a:t>
            </a:r>
            <a:r>
              <a:rPr lang="es-ES" sz="2000" dirty="0">
                <a:latin typeface="Arial" panose="020B0604020202020204" pitchFamily="34" charset="0"/>
                <a:ea typeface="Times New Roman" panose="02020603050405020304" pitchFamily="18" charset="0"/>
                <a:cs typeface="Arial" panose="020B0604020202020204" pitchFamily="34" charset="0"/>
              </a:rPr>
              <a:t>entrenamiento.</a:t>
            </a:r>
          </a:p>
          <a:p>
            <a:pPr>
              <a:lnSpc>
                <a:spcPct val="150000"/>
              </a:lnSpc>
            </a:pPr>
            <a:endParaRPr lang="es-MX" sz="2000" dirty="0">
              <a:effectLst/>
              <a:latin typeface="Arial" panose="020B0604020202020204" pitchFamily="34" charset="0"/>
              <a:ea typeface="Times New Roman" panose="02020603050405020304" pitchFamily="18" charset="0"/>
              <a:cs typeface="Arial" panose="020B0604020202020204" pitchFamily="34" charset="0"/>
            </a:endParaRPr>
          </a:p>
          <a:p>
            <a:endParaRPr lang="es-MX" sz="1800" dirty="0">
              <a:effectLst/>
              <a:latin typeface="Times New Roman" panose="02020603050405020304" pitchFamily="18" charset="0"/>
              <a:ea typeface="Times New Roman" panose="02020603050405020304" pitchFamily="18" charset="0"/>
            </a:endParaRPr>
          </a:p>
          <a:p>
            <a:endParaRPr lang="es-ES" dirty="0"/>
          </a:p>
        </p:txBody>
      </p:sp>
      <p:pic>
        <p:nvPicPr>
          <p:cNvPr id="2" name="Imagen 1">
            <a:extLst>
              <a:ext uri="{FF2B5EF4-FFF2-40B4-BE49-F238E27FC236}">
                <a16:creationId xmlns:a16="http://schemas.microsoft.com/office/drawing/2014/main" id="{9A77103C-2C87-AC65-E198-64CC48D3A66C}"/>
              </a:ext>
            </a:extLst>
          </p:cNvPr>
          <p:cNvPicPr>
            <a:picLocks noChangeAspect="1"/>
          </p:cNvPicPr>
          <p:nvPr/>
        </p:nvPicPr>
        <p:blipFill>
          <a:blip r:embed="rId2"/>
          <a:stretch>
            <a:fillRect/>
          </a:stretch>
        </p:blipFill>
        <p:spPr>
          <a:xfrm>
            <a:off x="6804248" y="3429000"/>
            <a:ext cx="1171739" cy="257211"/>
          </a:xfrm>
          <a:prstGeom prst="rect">
            <a:avLst/>
          </a:prstGeom>
        </p:spPr>
      </p:pic>
    </p:spTree>
    <p:extLst>
      <p:ext uri="{BB962C8B-B14F-4D97-AF65-F5344CB8AC3E}">
        <p14:creationId xmlns:p14="http://schemas.microsoft.com/office/powerpoint/2010/main" val="159698321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81DA61A-280B-BC2D-EBDC-3B66C0507F1D}"/>
              </a:ext>
            </a:extLst>
          </p:cNvPr>
          <p:cNvSpPr>
            <a:spLocks noGrp="1"/>
          </p:cNvSpPr>
          <p:nvPr>
            <p:ph idx="1"/>
          </p:nvPr>
        </p:nvSpPr>
        <p:spPr>
          <a:xfrm>
            <a:off x="187364" y="188640"/>
            <a:ext cx="8784976" cy="6264696"/>
          </a:xfrm>
        </p:spPr>
        <p:txBody>
          <a:bodyPr/>
          <a:lstStyle/>
          <a:p>
            <a:pPr marL="0" indent="0" algn="just">
              <a:lnSpc>
                <a:spcPct val="150000"/>
              </a:lnSpc>
              <a:buNone/>
            </a:pPr>
            <a:r>
              <a:rPr lang="es-ES" sz="2000" b="1" dirty="0">
                <a:latin typeface="Arial" panose="020B0604020202020204" pitchFamily="34" charset="0"/>
                <a:cs typeface="Arial" panose="020B0604020202020204" pitchFamily="34" charset="0"/>
              </a:rPr>
              <a:t>5. </a:t>
            </a:r>
            <a:r>
              <a:rPr lang="es-ES" sz="2000" b="1" dirty="0">
                <a:effectLst/>
                <a:latin typeface="Arial" panose="020B0604020202020204" pitchFamily="34" charset="0"/>
                <a:ea typeface="Times New Roman" panose="02020603050405020304" pitchFamily="18" charset="0"/>
                <a:cs typeface="Arial" panose="020B0604020202020204" pitchFamily="34" charset="0"/>
              </a:rPr>
              <a:t>Incorporación</a:t>
            </a:r>
            <a:r>
              <a:rPr lang="es-ES" sz="2000" b="1" spc="120" dirty="0">
                <a:effectLst/>
                <a:latin typeface="Arial" panose="020B0604020202020204" pitchFamily="34" charset="0"/>
                <a:ea typeface="Times New Roman" panose="02020603050405020304" pitchFamily="18" charset="0"/>
                <a:cs typeface="Arial" panose="020B0604020202020204" pitchFamily="34" charset="0"/>
              </a:rPr>
              <a:t> </a:t>
            </a:r>
            <a:r>
              <a:rPr lang="es-ES" sz="2000" b="1" dirty="0">
                <a:effectLst/>
                <a:latin typeface="Arial" panose="020B0604020202020204" pitchFamily="34" charset="0"/>
                <a:ea typeface="Times New Roman" panose="02020603050405020304" pitchFamily="18" charset="0"/>
                <a:cs typeface="Arial" panose="020B0604020202020204" pitchFamily="34" charset="0"/>
              </a:rPr>
              <a:t>de</a:t>
            </a:r>
            <a:r>
              <a:rPr lang="es-ES" sz="2000" b="1" spc="115" dirty="0">
                <a:effectLst/>
                <a:latin typeface="Arial" panose="020B0604020202020204" pitchFamily="34" charset="0"/>
                <a:ea typeface="Times New Roman" panose="02020603050405020304" pitchFamily="18" charset="0"/>
                <a:cs typeface="Arial" panose="020B0604020202020204" pitchFamily="34" charset="0"/>
              </a:rPr>
              <a:t> </a:t>
            </a:r>
            <a:r>
              <a:rPr lang="es-ES" sz="2000" b="1" dirty="0">
                <a:effectLst/>
                <a:latin typeface="Arial" panose="020B0604020202020204" pitchFamily="34" charset="0"/>
                <a:ea typeface="Times New Roman" panose="02020603050405020304" pitchFamily="18" charset="0"/>
                <a:cs typeface="Arial" panose="020B0604020202020204" pitchFamily="34" charset="0"/>
              </a:rPr>
              <a:t>re</a:t>
            </a:r>
            <a:r>
              <a:rPr lang="es-ES" sz="2000" b="1" spc="85" dirty="0">
                <a:latin typeface="Arial" panose="020B0604020202020204" pitchFamily="34" charset="0"/>
                <a:ea typeface="Times New Roman" panose="02020603050405020304" pitchFamily="18" charset="0"/>
                <a:cs typeface="Arial" panose="020B0604020202020204" pitchFamily="34" charset="0"/>
              </a:rPr>
              <a:t>fi</a:t>
            </a:r>
            <a:r>
              <a:rPr lang="es-ES" sz="2000" b="1" dirty="0">
                <a:effectLst/>
                <a:latin typeface="Arial" panose="020B0604020202020204" pitchFamily="34" charset="0"/>
                <a:ea typeface="Times New Roman" panose="02020603050405020304" pitchFamily="18" charset="0"/>
                <a:cs typeface="Arial" panose="020B0604020202020204" pitchFamily="34" charset="0"/>
              </a:rPr>
              <a:t>namiento</a:t>
            </a:r>
            <a:r>
              <a:rPr lang="es-ES" sz="2000" b="1" spc="115" dirty="0">
                <a:effectLst/>
                <a:latin typeface="Arial" panose="020B0604020202020204" pitchFamily="34" charset="0"/>
                <a:ea typeface="Times New Roman" panose="02020603050405020304" pitchFamily="18" charset="0"/>
                <a:cs typeface="Arial" panose="020B0604020202020204" pitchFamily="34" charset="0"/>
              </a:rPr>
              <a:t> </a:t>
            </a:r>
            <a:r>
              <a:rPr lang="es-ES" sz="2000" b="1" dirty="0">
                <a:effectLst/>
                <a:latin typeface="Arial" panose="020B0604020202020204" pitchFamily="34" charset="0"/>
                <a:ea typeface="Times New Roman" panose="02020603050405020304" pitchFamily="18" charset="0"/>
                <a:cs typeface="Arial" panose="020B0604020202020204" pitchFamily="34" charset="0"/>
              </a:rPr>
              <a:t>iterativo</a:t>
            </a:r>
            <a:r>
              <a:rPr lang="es-ES" sz="2000" b="1" spc="110" dirty="0">
                <a:effectLst/>
                <a:latin typeface="Arial" panose="020B0604020202020204" pitchFamily="34" charset="0"/>
                <a:ea typeface="Times New Roman" panose="02020603050405020304" pitchFamily="18" charset="0"/>
                <a:cs typeface="Arial" panose="020B0604020202020204" pitchFamily="34" charset="0"/>
              </a:rPr>
              <a:t> </a:t>
            </a:r>
            <a:r>
              <a:rPr lang="es-ES" sz="2000" b="1" dirty="0">
                <a:effectLst/>
                <a:latin typeface="Arial" panose="020B0604020202020204" pitchFamily="34" charset="0"/>
                <a:ea typeface="Times New Roman" panose="02020603050405020304" pitchFamily="18" charset="0"/>
                <a:cs typeface="Arial" panose="020B0604020202020204" pitchFamily="34" charset="0"/>
              </a:rPr>
              <a:t>(Newton-</a:t>
            </a:r>
            <a:r>
              <a:rPr lang="es-ES" sz="2000" b="1" spc="-10" dirty="0">
                <a:effectLst/>
                <a:latin typeface="Arial" panose="020B0604020202020204" pitchFamily="34" charset="0"/>
                <a:ea typeface="Times New Roman" panose="02020603050405020304" pitchFamily="18" charset="0"/>
                <a:cs typeface="Arial" panose="020B0604020202020204" pitchFamily="34" charset="0"/>
              </a:rPr>
              <a:t>Schulz): </a:t>
            </a:r>
            <a:r>
              <a:rPr lang="es-ES" sz="2000" dirty="0">
                <a:effectLst/>
                <a:latin typeface="Arial" panose="020B0604020202020204" pitchFamily="34" charset="0"/>
                <a:ea typeface="Times New Roman" panose="02020603050405020304" pitchFamily="18" charset="0"/>
                <a:cs typeface="Arial" panose="020B0604020202020204" pitchFamily="34" charset="0"/>
              </a:rPr>
              <a:t>Se identi</a:t>
            </a:r>
            <a:r>
              <a:rPr lang="es-ES" sz="2000" spc="-15" dirty="0">
                <a:latin typeface="Arial" panose="020B0604020202020204" pitchFamily="34" charset="0"/>
                <a:ea typeface="Times New Roman" panose="02020603050405020304" pitchFamily="18" charset="0"/>
                <a:cs typeface="Arial" panose="020B0604020202020204" pitchFamily="34" charset="0"/>
              </a:rPr>
              <a:t>fic</a:t>
            </a:r>
            <a:r>
              <a:rPr lang="es-ES" sz="2000" dirty="0">
                <a:effectLst/>
                <a:latin typeface="Arial" panose="020B0604020202020204" pitchFamily="34" charset="0"/>
                <a:ea typeface="Times New Roman" panose="02020603050405020304" pitchFamily="18" charset="0"/>
                <a:cs typeface="Arial" panose="020B0604020202020204" pitchFamily="34" charset="0"/>
              </a:rPr>
              <a:t>ó que la cantidad minimizada por la nueva función de pérdida                        </a:t>
            </a:r>
          </a:p>
          <a:p>
            <a:pPr marL="0" indent="0" algn="just">
              <a:lnSpc>
                <a:spcPct val="150000"/>
              </a:lnSpc>
              <a:buNone/>
            </a:pPr>
            <a:r>
              <a:rPr lang="es-ES" sz="2000" dirty="0">
                <a:effectLst/>
                <a:latin typeface="Arial" panose="020B0604020202020204" pitchFamily="34" charset="0"/>
                <a:ea typeface="Times New Roman" panose="02020603050405020304" pitchFamily="18" charset="0"/>
                <a:cs typeface="Arial" panose="020B0604020202020204" pitchFamily="34" charset="0"/>
              </a:rPr>
              <a:t>coincide</a:t>
            </a:r>
            <a:r>
              <a:rPr lang="es-ES" sz="2000" spc="-8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exactamente</a:t>
            </a:r>
            <a:r>
              <a:rPr lang="es-ES" sz="2000" spc="-8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con</a:t>
            </a:r>
            <a:r>
              <a:rPr lang="es-ES" sz="2000" spc="-8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la</a:t>
            </a:r>
            <a:r>
              <a:rPr lang="es-ES" sz="2000" spc="-8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condición</a:t>
            </a:r>
            <a:r>
              <a:rPr lang="es-ES" sz="2000" spc="-8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de</a:t>
            </a:r>
            <a:r>
              <a:rPr lang="es-ES" sz="2000" spc="-8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convergencia</a:t>
            </a:r>
            <a:r>
              <a:rPr lang="es-ES" sz="2000" spc="-8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del</a:t>
            </a:r>
            <a:r>
              <a:rPr lang="es-ES" sz="2000" spc="-8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método</a:t>
            </a:r>
            <a:r>
              <a:rPr lang="es-ES" sz="2000" spc="-8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de</a:t>
            </a:r>
            <a:r>
              <a:rPr lang="es-ES" sz="2000" spc="-8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Newton-Schulz. Sin</a:t>
            </a:r>
            <a:r>
              <a:rPr lang="es-ES" sz="2000" spc="-1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embargo,</a:t>
            </a:r>
            <a:r>
              <a:rPr lang="es-ES" sz="2000" spc="-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las</a:t>
            </a:r>
            <a:r>
              <a:rPr lang="es-ES" sz="2000" spc="-1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pruebas</a:t>
            </a:r>
            <a:r>
              <a:rPr lang="es-ES" sz="2000" spc="-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mostraron</a:t>
            </a:r>
            <a:r>
              <a:rPr lang="es-ES" sz="2000" spc="-1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que</a:t>
            </a:r>
            <a:r>
              <a:rPr lang="es-ES" sz="2000" spc="-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la</a:t>
            </a:r>
            <a:r>
              <a:rPr lang="es-ES" sz="2000" spc="-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con</a:t>
            </a:r>
            <a:r>
              <a:rPr lang="es-ES" sz="2000" spc="-80" dirty="0">
                <a:latin typeface="Arial" panose="020B0604020202020204" pitchFamily="34" charset="0"/>
                <a:ea typeface="Times New Roman" panose="02020603050405020304" pitchFamily="18" charset="0"/>
                <a:cs typeface="Arial" panose="020B0604020202020204" pitchFamily="34" charset="0"/>
              </a:rPr>
              <a:t>fi</a:t>
            </a:r>
            <a:r>
              <a:rPr lang="es-ES" sz="2000" dirty="0">
                <a:effectLst/>
                <a:latin typeface="Arial" panose="020B0604020202020204" pitchFamily="34" charset="0"/>
                <a:ea typeface="Times New Roman" panose="02020603050405020304" pitchFamily="18" charset="0"/>
                <a:cs typeface="Arial" panose="020B0604020202020204" pitchFamily="34" charset="0"/>
              </a:rPr>
              <a:t>abilidad</a:t>
            </a:r>
            <a:r>
              <a:rPr lang="es-ES" sz="2000" spc="-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de</a:t>
            </a:r>
            <a:r>
              <a:rPr lang="es-ES" sz="2000" spc="-1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este</a:t>
            </a:r>
            <a:r>
              <a:rPr lang="es-ES" sz="2000" spc="-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refinamiento,</a:t>
            </a:r>
            <a:r>
              <a:rPr lang="es-ES" sz="2000" spc="-5" dirty="0">
                <a:effectLst/>
                <a:latin typeface="Arial" panose="020B0604020202020204" pitchFamily="34" charset="0"/>
                <a:ea typeface="Times New Roman" panose="02020603050405020304" pitchFamily="18" charset="0"/>
                <a:cs typeface="Arial" panose="020B0604020202020204" pitchFamily="34" charset="0"/>
              </a:rPr>
              <a:t> </a:t>
            </a:r>
            <a:r>
              <a:rPr lang="es-ES" sz="2000" spc="-10" dirty="0">
                <a:effectLst/>
                <a:latin typeface="Arial" panose="020B0604020202020204" pitchFamily="34" charset="0"/>
                <a:ea typeface="Times New Roman" panose="02020603050405020304" pitchFamily="18" charset="0"/>
                <a:cs typeface="Arial" panose="020B0604020202020204" pitchFamily="34" charset="0"/>
              </a:rPr>
              <a:t>partiendo </a:t>
            </a:r>
            <a:r>
              <a:rPr lang="es-ES" sz="2000" dirty="0">
                <a:effectLst/>
                <a:latin typeface="Arial" panose="020B0604020202020204" pitchFamily="34" charset="0"/>
                <a:ea typeface="Times New Roman" panose="02020603050405020304" pitchFamily="18" charset="0"/>
                <a:cs typeface="Arial" panose="020B0604020202020204" pitchFamily="34" charset="0"/>
              </a:rPr>
              <a:t>únicamente de la predicción de la red, era inconsistente fuera de un dominio acotado de </a:t>
            </a:r>
            <a:r>
              <a:rPr lang="es-ES" sz="2000" spc="-10" dirty="0">
                <a:effectLst/>
                <a:latin typeface="Arial" panose="020B0604020202020204" pitchFamily="34" charset="0"/>
                <a:ea typeface="Times New Roman" panose="02020603050405020304" pitchFamily="18" charset="0"/>
                <a:cs typeface="Arial" panose="020B0604020202020204" pitchFamily="34" charset="0"/>
              </a:rPr>
              <a:t>matrices.</a:t>
            </a:r>
            <a:endParaRPr lang="es-MX" sz="2000" dirty="0">
              <a:effectLst/>
              <a:latin typeface="Arial" panose="020B0604020202020204" pitchFamily="34" charset="0"/>
              <a:ea typeface="Times New Roman" panose="02020603050405020304" pitchFamily="18" charset="0"/>
              <a:cs typeface="Arial" panose="020B0604020202020204" pitchFamily="34" charset="0"/>
            </a:endParaRPr>
          </a:p>
          <a:p>
            <a:pPr marL="0" indent="0" algn="just">
              <a:lnSpc>
                <a:spcPct val="150000"/>
              </a:lnSpc>
              <a:buNone/>
            </a:pPr>
            <a:r>
              <a:rPr lang="es-MX" sz="2000" b="1" dirty="0">
                <a:effectLst/>
                <a:latin typeface="Arial" panose="020B0604020202020204" pitchFamily="34" charset="0"/>
                <a:ea typeface="Times New Roman" panose="02020603050405020304" pitchFamily="18" charset="0"/>
                <a:cs typeface="Arial" panose="020B0604020202020204" pitchFamily="34" charset="0"/>
              </a:rPr>
              <a:t>6. </a:t>
            </a:r>
            <a:r>
              <a:rPr lang="es-ES" sz="2000" b="1" dirty="0">
                <a:effectLst/>
                <a:latin typeface="Arial" panose="020B0604020202020204" pitchFamily="34" charset="0"/>
                <a:ea typeface="Times New Roman" panose="02020603050405020304" pitchFamily="18" charset="0"/>
                <a:cs typeface="Arial" panose="020B0604020202020204" pitchFamily="34" charset="0"/>
              </a:rPr>
              <a:t>Especialización</a:t>
            </a:r>
            <a:r>
              <a:rPr lang="es-ES" sz="2000" b="1" spc="65" dirty="0">
                <a:effectLst/>
                <a:latin typeface="Arial" panose="020B0604020202020204" pitchFamily="34" charset="0"/>
                <a:ea typeface="Times New Roman" panose="02020603050405020304" pitchFamily="18" charset="0"/>
                <a:cs typeface="Arial" panose="020B0604020202020204" pitchFamily="34" charset="0"/>
              </a:rPr>
              <a:t> </a:t>
            </a:r>
            <a:r>
              <a:rPr lang="es-ES" sz="2000" b="1" dirty="0">
                <a:effectLst/>
                <a:latin typeface="Arial" panose="020B0604020202020204" pitchFamily="34" charset="0"/>
                <a:ea typeface="Times New Roman" panose="02020603050405020304" pitchFamily="18" charset="0"/>
                <a:cs typeface="Arial" panose="020B0604020202020204" pitchFamily="34" charset="0"/>
              </a:rPr>
              <a:t>del</a:t>
            </a:r>
            <a:r>
              <a:rPr lang="es-ES" sz="2000" b="1" spc="65" dirty="0">
                <a:effectLst/>
                <a:latin typeface="Arial" panose="020B0604020202020204" pitchFamily="34" charset="0"/>
                <a:ea typeface="Times New Roman" panose="02020603050405020304" pitchFamily="18" charset="0"/>
                <a:cs typeface="Arial" panose="020B0604020202020204" pitchFamily="34" charset="0"/>
              </a:rPr>
              <a:t> </a:t>
            </a:r>
            <a:r>
              <a:rPr lang="es-ES" sz="2000" b="1" dirty="0">
                <a:effectLst/>
                <a:latin typeface="Arial" panose="020B0604020202020204" pitchFamily="34" charset="0"/>
                <a:ea typeface="Times New Roman" panose="02020603050405020304" pitchFamily="18" charset="0"/>
                <a:cs typeface="Arial" panose="020B0604020202020204" pitchFamily="34" charset="0"/>
              </a:rPr>
              <a:t>dominio</a:t>
            </a:r>
            <a:r>
              <a:rPr lang="es-ES" sz="2000" b="1" spc="60" dirty="0">
                <a:effectLst/>
                <a:latin typeface="Arial" panose="020B0604020202020204" pitchFamily="34" charset="0"/>
                <a:ea typeface="Times New Roman" panose="02020603050405020304" pitchFamily="18" charset="0"/>
                <a:cs typeface="Arial" panose="020B0604020202020204" pitchFamily="34" charset="0"/>
              </a:rPr>
              <a:t> </a:t>
            </a:r>
            <a:r>
              <a:rPr lang="es-ES" sz="2000" b="1" dirty="0">
                <a:effectLst/>
                <a:latin typeface="Arial" panose="020B0604020202020204" pitchFamily="34" charset="0"/>
                <a:ea typeface="Times New Roman" panose="02020603050405020304" pitchFamily="18" charset="0"/>
                <a:cs typeface="Arial" panose="020B0604020202020204" pitchFamily="34" charset="0"/>
              </a:rPr>
              <a:t>de</a:t>
            </a:r>
            <a:r>
              <a:rPr lang="es-ES" sz="2000" b="1" spc="60" dirty="0">
                <a:effectLst/>
                <a:latin typeface="Arial" panose="020B0604020202020204" pitchFamily="34" charset="0"/>
                <a:ea typeface="Times New Roman" panose="02020603050405020304" pitchFamily="18" charset="0"/>
                <a:cs typeface="Arial" panose="020B0604020202020204" pitchFamily="34" charset="0"/>
              </a:rPr>
              <a:t> </a:t>
            </a:r>
            <a:r>
              <a:rPr lang="es-ES" sz="2000" b="1" dirty="0">
                <a:effectLst/>
                <a:latin typeface="Arial" panose="020B0604020202020204" pitchFamily="34" charset="0"/>
                <a:ea typeface="Times New Roman" panose="02020603050405020304" pitchFamily="18" charset="0"/>
                <a:cs typeface="Arial" panose="020B0604020202020204" pitchFamily="34" charset="0"/>
              </a:rPr>
              <a:t>la</a:t>
            </a:r>
            <a:r>
              <a:rPr lang="es-ES" sz="2000" b="1" spc="60" dirty="0">
                <a:effectLst/>
                <a:latin typeface="Arial" panose="020B0604020202020204" pitchFamily="34" charset="0"/>
                <a:ea typeface="Times New Roman" panose="02020603050405020304" pitchFamily="18" charset="0"/>
                <a:cs typeface="Arial" panose="020B0604020202020204" pitchFamily="34" charset="0"/>
              </a:rPr>
              <a:t> </a:t>
            </a:r>
            <a:r>
              <a:rPr lang="es-ES" sz="2000" b="1" spc="-20" dirty="0">
                <a:effectLst/>
                <a:latin typeface="Arial" panose="020B0604020202020204" pitchFamily="34" charset="0"/>
                <a:ea typeface="Times New Roman" panose="02020603050405020304" pitchFamily="18" charset="0"/>
                <a:cs typeface="Arial" panose="020B0604020202020204" pitchFamily="34" charset="0"/>
              </a:rPr>
              <a:t>red: </a:t>
            </a:r>
            <a:r>
              <a:rPr lang="es-ES" sz="2000" dirty="0">
                <a:effectLst/>
                <a:latin typeface="Arial" panose="020B0604020202020204" pitchFamily="34" charset="0"/>
                <a:ea typeface="Times New Roman" panose="02020603050405020304" pitchFamily="18" charset="0"/>
                <a:cs typeface="Arial" panose="020B0604020202020204" pitchFamily="34" charset="0"/>
              </a:rPr>
              <a:t>Se</a:t>
            </a:r>
            <a:r>
              <a:rPr lang="es-ES" sz="2000" spc="-3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comparó</a:t>
            </a:r>
            <a:r>
              <a:rPr lang="es-ES" sz="2000" spc="-3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el</a:t>
            </a:r>
            <a:r>
              <a:rPr lang="es-ES" sz="2000" spc="-3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desempeño</a:t>
            </a:r>
            <a:r>
              <a:rPr lang="es-ES" sz="2000" spc="-3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de</a:t>
            </a:r>
            <a:r>
              <a:rPr lang="es-ES" sz="2000" spc="-3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la</a:t>
            </a:r>
            <a:r>
              <a:rPr lang="es-ES" sz="2000" spc="-3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red</a:t>
            </a:r>
            <a:r>
              <a:rPr lang="es-ES" sz="2000" spc="-3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entrenada</a:t>
            </a:r>
            <a:r>
              <a:rPr lang="es-ES" sz="2000" spc="-3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sobre</a:t>
            </a:r>
            <a:r>
              <a:rPr lang="es-ES" sz="2000" spc="-3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un</a:t>
            </a:r>
            <a:r>
              <a:rPr lang="es-ES" sz="2000" spc="-3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dominio</a:t>
            </a:r>
            <a:r>
              <a:rPr lang="es-ES" sz="2000" spc="-3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amplio</a:t>
            </a:r>
            <a:r>
              <a:rPr lang="es-ES" sz="2000" spc="-3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(número</a:t>
            </a:r>
            <a:r>
              <a:rPr lang="es-ES" sz="2000" spc="-3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de</a:t>
            </a:r>
            <a:r>
              <a:rPr lang="es-ES" sz="2000" spc="-3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condición</a:t>
            </a:r>
            <a:r>
              <a:rPr lang="es-ES" sz="2000" spc="-6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hasta</a:t>
            </a:r>
            <a:r>
              <a:rPr lang="es-ES" sz="2000" spc="-6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50)</a:t>
            </a:r>
            <a:r>
              <a:rPr lang="es-ES" sz="2000" spc="-6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contra</a:t>
            </a:r>
            <a:r>
              <a:rPr lang="es-ES" sz="2000" spc="-6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un</a:t>
            </a:r>
            <a:r>
              <a:rPr lang="es-ES" sz="2000" spc="-6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dominio</a:t>
            </a:r>
            <a:r>
              <a:rPr lang="es-ES" sz="2000" spc="-6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restringido</a:t>
            </a:r>
            <a:r>
              <a:rPr lang="es-ES" sz="2000" spc="-6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(número</a:t>
            </a:r>
            <a:r>
              <a:rPr lang="es-ES" sz="2000" spc="-6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de</a:t>
            </a:r>
            <a:r>
              <a:rPr lang="es-ES" sz="2000" spc="-6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condición</a:t>
            </a:r>
            <a:r>
              <a:rPr lang="es-ES" sz="2000" spc="-6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hasta</a:t>
            </a:r>
            <a:r>
              <a:rPr lang="es-ES" sz="2000" spc="-6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10).</a:t>
            </a:r>
            <a:r>
              <a:rPr lang="es-ES" sz="2000" spc="-6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Se</a:t>
            </a:r>
            <a:r>
              <a:rPr lang="es-ES" sz="2000" spc="-6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determinó experimentalmente</a:t>
            </a:r>
            <a:r>
              <a:rPr lang="es-ES" sz="2000" spc="40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incluyendo pruebas con redes de mayor capacidad y conjuntos de entrenamiento más grandes, que no mostraron mejoras significativas</a:t>
            </a:r>
            <a:r>
              <a:rPr lang="es-ES" sz="2000" spc="20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que la red generaliza de forma confiable únicamente dentro del dominio restringido</a:t>
            </a:r>
          </a:p>
          <a:p>
            <a:endParaRPr lang="es-ES" dirty="0"/>
          </a:p>
        </p:txBody>
      </p:sp>
      <p:pic>
        <p:nvPicPr>
          <p:cNvPr id="4" name="Imagen 3">
            <a:extLst>
              <a:ext uri="{FF2B5EF4-FFF2-40B4-BE49-F238E27FC236}">
                <a16:creationId xmlns:a16="http://schemas.microsoft.com/office/drawing/2014/main" id="{48E7E7A3-D340-0E52-DF29-6B4A4B5CD6A3}"/>
              </a:ext>
            </a:extLst>
          </p:cNvPr>
          <p:cNvPicPr>
            <a:picLocks noChangeAspect="1"/>
          </p:cNvPicPr>
          <p:nvPr/>
        </p:nvPicPr>
        <p:blipFill>
          <a:blip r:embed="rId2"/>
          <a:stretch>
            <a:fillRect/>
          </a:stretch>
        </p:blipFill>
        <p:spPr>
          <a:xfrm>
            <a:off x="7092280" y="836712"/>
            <a:ext cx="1171739" cy="257211"/>
          </a:xfrm>
          <a:prstGeom prst="rect">
            <a:avLst/>
          </a:prstGeom>
        </p:spPr>
      </p:pic>
    </p:spTree>
    <p:extLst>
      <p:ext uri="{BB962C8B-B14F-4D97-AF65-F5344CB8AC3E}">
        <p14:creationId xmlns:p14="http://schemas.microsoft.com/office/powerpoint/2010/main" val="205550136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CFB6C1B-15BE-A2A0-364E-077330A68E75}"/>
              </a:ext>
            </a:extLst>
          </p:cNvPr>
          <p:cNvSpPr>
            <a:spLocks noGrp="1"/>
          </p:cNvSpPr>
          <p:nvPr>
            <p:ph idx="1"/>
          </p:nvPr>
        </p:nvSpPr>
        <p:spPr>
          <a:xfrm>
            <a:off x="179512" y="116632"/>
            <a:ext cx="8784976" cy="6060331"/>
          </a:xfrm>
        </p:spPr>
        <p:txBody>
          <a:bodyPr/>
          <a:lstStyle/>
          <a:p>
            <a:pPr marL="0" indent="0" algn="just">
              <a:lnSpc>
                <a:spcPct val="150000"/>
              </a:lnSpc>
              <a:buNone/>
            </a:pPr>
            <a:r>
              <a:rPr lang="es-ES" sz="2000" b="1" dirty="0">
                <a:latin typeface="Arial" panose="020B0604020202020204" pitchFamily="34" charset="0"/>
                <a:cs typeface="Arial" panose="020B0604020202020204" pitchFamily="34" charset="0"/>
              </a:rPr>
              <a:t>7. </a:t>
            </a:r>
            <a:r>
              <a:rPr lang="es-ES" sz="2000" b="1" dirty="0">
                <a:effectLst/>
                <a:latin typeface="Arial" panose="020B0604020202020204" pitchFamily="34" charset="0"/>
                <a:ea typeface="Times New Roman" panose="02020603050405020304" pitchFamily="18" charset="0"/>
                <a:cs typeface="Arial" panose="020B0604020202020204" pitchFamily="34" charset="0"/>
              </a:rPr>
              <a:t>Incorporación</a:t>
            </a:r>
            <a:r>
              <a:rPr lang="es-ES" sz="2000" b="1" spc="75" dirty="0">
                <a:effectLst/>
                <a:latin typeface="Arial" panose="020B0604020202020204" pitchFamily="34" charset="0"/>
                <a:ea typeface="Times New Roman" panose="02020603050405020304" pitchFamily="18" charset="0"/>
                <a:cs typeface="Arial" panose="020B0604020202020204" pitchFamily="34" charset="0"/>
              </a:rPr>
              <a:t> </a:t>
            </a:r>
            <a:r>
              <a:rPr lang="es-ES" sz="2000" b="1" dirty="0">
                <a:effectLst/>
                <a:latin typeface="Arial" panose="020B0604020202020204" pitchFamily="34" charset="0"/>
                <a:ea typeface="Times New Roman" panose="02020603050405020304" pitchFamily="18" charset="0"/>
                <a:cs typeface="Arial" panose="020B0604020202020204" pitchFamily="34" charset="0"/>
              </a:rPr>
              <a:t>de</a:t>
            </a:r>
            <a:r>
              <a:rPr lang="es-ES" sz="2000" b="1" spc="75" dirty="0">
                <a:effectLst/>
                <a:latin typeface="Arial" panose="020B0604020202020204" pitchFamily="34" charset="0"/>
                <a:ea typeface="Times New Roman" panose="02020603050405020304" pitchFamily="18" charset="0"/>
                <a:cs typeface="Arial" panose="020B0604020202020204" pitchFamily="34" charset="0"/>
              </a:rPr>
              <a:t> </a:t>
            </a:r>
            <a:r>
              <a:rPr lang="es-ES" sz="2000" b="1" dirty="0">
                <a:effectLst/>
                <a:latin typeface="Arial" panose="020B0604020202020204" pitchFamily="34" charset="0"/>
                <a:ea typeface="Times New Roman" panose="02020603050405020304" pitchFamily="18" charset="0"/>
                <a:cs typeface="Arial" panose="020B0604020202020204" pitchFamily="34" charset="0"/>
              </a:rPr>
              <a:t>un</a:t>
            </a:r>
            <a:r>
              <a:rPr lang="es-ES" sz="2000" b="1" spc="75" dirty="0">
                <a:effectLst/>
                <a:latin typeface="Arial" panose="020B0604020202020204" pitchFamily="34" charset="0"/>
                <a:ea typeface="Times New Roman" panose="02020603050405020304" pitchFamily="18" charset="0"/>
                <a:cs typeface="Arial" panose="020B0604020202020204" pitchFamily="34" charset="0"/>
              </a:rPr>
              <a:t> </a:t>
            </a:r>
            <a:r>
              <a:rPr lang="es-ES" sz="2000" b="1" dirty="0">
                <a:effectLst/>
                <a:latin typeface="Arial" panose="020B0604020202020204" pitchFamily="34" charset="0"/>
                <a:ea typeface="Times New Roman" panose="02020603050405020304" pitchFamily="18" charset="0"/>
                <a:cs typeface="Arial" panose="020B0604020202020204" pitchFamily="34" charset="0"/>
              </a:rPr>
              <a:t>respaldo</a:t>
            </a:r>
            <a:r>
              <a:rPr lang="es-ES" sz="2000" b="1" spc="75" dirty="0">
                <a:effectLst/>
                <a:latin typeface="Arial" panose="020B0604020202020204" pitchFamily="34" charset="0"/>
                <a:ea typeface="Times New Roman" panose="02020603050405020304" pitchFamily="18" charset="0"/>
                <a:cs typeface="Arial" panose="020B0604020202020204" pitchFamily="34" charset="0"/>
              </a:rPr>
              <a:t> </a:t>
            </a:r>
            <a:r>
              <a:rPr lang="es-ES" sz="2000" b="1" dirty="0">
                <a:effectLst/>
                <a:latin typeface="Arial" panose="020B0604020202020204" pitchFamily="34" charset="0"/>
                <a:ea typeface="Times New Roman" panose="02020603050405020304" pitchFamily="18" charset="0"/>
                <a:cs typeface="Arial" panose="020B0604020202020204" pitchFamily="34" charset="0"/>
              </a:rPr>
              <a:t>algebraico</a:t>
            </a:r>
            <a:r>
              <a:rPr lang="es-ES" sz="2000" b="1" spc="75" dirty="0">
                <a:effectLst/>
                <a:latin typeface="Arial" panose="020B0604020202020204" pitchFamily="34" charset="0"/>
                <a:ea typeface="Times New Roman" panose="02020603050405020304" pitchFamily="18" charset="0"/>
                <a:cs typeface="Arial" panose="020B0604020202020204" pitchFamily="34" charset="0"/>
              </a:rPr>
              <a:t> </a:t>
            </a:r>
            <a:r>
              <a:rPr lang="es-ES" sz="2000" b="1" spc="-10" dirty="0">
                <a:effectLst/>
                <a:latin typeface="Arial" panose="020B0604020202020204" pitchFamily="34" charset="0"/>
                <a:ea typeface="Times New Roman" panose="02020603050405020304" pitchFamily="18" charset="0"/>
                <a:cs typeface="Arial" panose="020B0604020202020204" pitchFamily="34" charset="0"/>
              </a:rPr>
              <a:t>garantizado: </a:t>
            </a:r>
            <a:r>
              <a:rPr lang="es-ES" sz="2000" dirty="0">
                <a:effectLst/>
                <a:latin typeface="Arial" panose="020B0604020202020204" pitchFamily="34" charset="0"/>
                <a:ea typeface="Times New Roman" panose="02020603050405020304" pitchFamily="18" charset="0"/>
                <a:cs typeface="Arial" panose="020B0604020202020204" pitchFamily="34" charset="0"/>
              </a:rPr>
              <a:t>Para los casos fuera del dominio de especialización de la red, se incorporó una inicialización algebraica clásica que garantiza matemáticamente la convergencia de Newton- Schulz, independientemente del condicionamiento de la matriz. El sistema decide entre ambos puntos de partida evaluando, para cada matriz individual, si</a:t>
            </a:r>
            <a:r>
              <a:rPr lang="es-ES" sz="2000" spc="15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la predicción de la</a:t>
            </a:r>
            <a:r>
              <a:rPr lang="es-ES" sz="2000" spc="40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red satisface la condición teórica de convergencia.</a:t>
            </a:r>
          </a:p>
          <a:p>
            <a:pPr marL="0" indent="0" algn="just">
              <a:lnSpc>
                <a:spcPct val="150000"/>
              </a:lnSpc>
              <a:buNone/>
            </a:pPr>
            <a:r>
              <a:rPr lang="es-ES" sz="2000" b="1" dirty="0">
                <a:latin typeface="Arial" panose="020B0604020202020204" pitchFamily="34" charset="0"/>
                <a:ea typeface="Times New Roman" panose="02020603050405020304" pitchFamily="18" charset="0"/>
                <a:cs typeface="Arial" panose="020B0604020202020204" pitchFamily="34" charset="0"/>
              </a:rPr>
              <a:t>8.  Validación Final: </a:t>
            </a:r>
            <a:r>
              <a:rPr lang="es-ES" sz="2000" dirty="0">
                <a:effectLst/>
                <a:latin typeface="Arial" panose="020B0604020202020204" pitchFamily="34" charset="0"/>
                <a:ea typeface="Times New Roman" panose="02020603050405020304" pitchFamily="18" charset="0"/>
                <a:cs typeface="Arial" panose="020B0604020202020204" pitchFamily="34" charset="0"/>
              </a:rPr>
              <a:t>El</a:t>
            </a:r>
            <a:r>
              <a:rPr lang="es-ES" sz="2000" spc="-4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sistema</a:t>
            </a:r>
            <a:r>
              <a:rPr lang="es-ES" sz="2000" spc="-4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resultante</a:t>
            </a:r>
            <a:r>
              <a:rPr lang="es-ES" sz="2000" spc="-4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fue</a:t>
            </a:r>
            <a:r>
              <a:rPr lang="es-ES" sz="2000" spc="-4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evaluado</a:t>
            </a:r>
            <a:r>
              <a:rPr lang="es-ES" sz="2000" spc="-4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sobre</a:t>
            </a:r>
            <a:r>
              <a:rPr lang="es-ES" sz="2000" spc="-4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matrices</a:t>
            </a:r>
            <a:r>
              <a:rPr lang="es-ES" sz="2000" spc="-4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nuevas</a:t>
            </a:r>
            <a:r>
              <a:rPr lang="es-ES" sz="2000" spc="-4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en</a:t>
            </a:r>
            <a:r>
              <a:rPr lang="es-ES" sz="2000" spc="-4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ambos</a:t>
            </a:r>
            <a:r>
              <a:rPr lang="es-ES" sz="2000" spc="-4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regímenes</a:t>
            </a:r>
            <a:r>
              <a:rPr lang="es-ES" sz="2000" spc="-4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(bien</a:t>
            </a:r>
            <a:r>
              <a:rPr lang="es-ES" sz="2000" spc="-4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condicionadas</a:t>
            </a:r>
            <a:r>
              <a:rPr lang="es-ES" sz="2000" spc="-6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y</a:t>
            </a:r>
            <a:r>
              <a:rPr lang="es-ES" sz="2000" spc="-1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mal</a:t>
            </a:r>
            <a:r>
              <a:rPr lang="es-ES" sz="2000" spc="-1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condicionadas),</a:t>
            </a:r>
            <a:r>
              <a:rPr lang="es-ES" sz="2000" spc="-1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alcanzando</a:t>
            </a:r>
            <a:r>
              <a:rPr lang="es-ES" sz="2000" spc="-1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una</a:t>
            </a:r>
            <a:r>
              <a:rPr lang="es-ES" sz="2000" spc="-1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tasa</a:t>
            </a:r>
            <a:r>
              <a:rPr lang="es-ES" sz="2000" spc="-1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de</a:t>
            </a:r>
            <a:r>
              <a:rPr lang="es-ES" sz="2000" spc="-1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éxito</a:t>
            </a:r>
            <a:r>
              <a:rPr lang="es-ES" sz="2000" spc="-1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del</a:t>
            </a:r>
            <a:r>
              <a:rPr lang="es-ES" sz="2000" spc="-1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100</a:t>
            </a:r>
            <a:r>
              <a:rPr lang="es-ES" sz="2000" spc="-8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a:t>
            </a:r>
            <a:r>
              <a:rPr lang="es-ES" sz="2000" spc="-1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con</a:t>
            </a:r>
            <a:r>
              <a:rPr lang="es-ES" sz="2000" spc="-1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errores</a:t>
            </a:r>
            <a:r>
              <a:rPr lang="es-ES" sz="2000" spc="200" dirty="0">
                <a:effectLst/>
                <a:latin typeface="Arial" panose="020B0604020202020204" pitchFamily="34" charset="0"/>
                <a:ea typeface="Times New Roman" panose="02020603050405020304" pitchFamily="18" charset="0"/>
                <a:cs typeface="Arial" panose="020B0604020202020204" pitchFamily="34" charset="0"/>
              </a:rPr>
              <a:t> fi</a:t>
            </a:r>
            <a:r>
              <a:rPr lang="es-ES" sz="2000" dirty="0">
                <a:effectLst/>
                <a:latin typeface="Arial" panose="020B0604020202020204" pitchFamily="34" charset="0"/>
                <a:ea typeface="Times New Roman" panose="02020603050405020304" pitchFamily="18" charset="0"/>
                <a:cs typeface="Arial" panose="020B0604020202020204" pitchFamily="34" charset="0"/>
              </a:rPr>
              <a:t>nales del orden</a:t>
            </a:r>
            <a:r>
              <a:rPr lang="es-ES" sz="2000" spc="13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de 10</a:t>
            </a:r>
            <a:r>
              <a:rPr lang="es-ES" sz="2000" i="1" baseline="30000" dirty="0">
                <a:effectLst/>
                <a:latin typeface="Arial" panose="020B0604020202020204" pitchFamily="34" charset="0"/>
                <a:ea typeface="Times New Roman" panose="02020603050405020304" pitchFamily="18" charset="0"/>
                <a:cs typeface="Arial" panose="020B0604020202020204" pitchFamily="34" charset="0"/>
              </a:rPr>
              <a:t>−</a:t>
            </a:r>
            <a:r>
              <a:rPr lang="es-ES" sz="2000" baseline="30000" dirty="0">
                <a:effectLst/>
                <a:latin typeface="Arial" panose="020B0604020202020204" pitchFamily="34" charset="0"/>
                <a:ea typeface="Times New Roman" panose="02020603050405020304" pitchFamily="18" charset="0"/>
                <a:cs typeface="Arial" panose="020B0604020202020204" pitchFamily="34" charset="0"/>
              </a:rPr>
              <a:t>6</a:t>
            </a:r>
            <a:r>
              <a:rPr lang="es-ES" sz="2000" spc="19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a 10</a:t>
            </a:r>
            <a:r>
              <a:rPr lang="es-ES" sz="2000" i="1" baseline="30000" dirty="0">
                <a:effectLst/>
                <a:latin typeface="Arial" panose="020B0604020202020204" pitchFamily="34" charset="0"/>
                <a:ea typeface="Times New Roman" panose="02020603050405020304" pitchFamily="18" charset="0"/>
                <a:cs typeface="Arial" panose="020B0604020202020204" pitchFamily="34" charset="0"/>
              </a:rPr>
              <a:t>−</a:t>
            </a:r>
            <a:r>
              <a:rPr lang="es-ES" sz="2000" baseline="30000" dirty="0">
                <a:effectLst/>
                <a:latin typeface="Arial" panose="020B0604020202020204" pitchFamily="34" charset="0"/>
                <a:ea typeface="Times New Roman" panose="02020603050405020304" pitchFamily="18" charset="0"/>
                <a:cs typeface="Arial" panose="020B0604020202020204" pitchFamily="34" charset="0"/>
              </a:rPr>
              <a:t>7</a:t>
            </a:r>
            <a:r>
              <a:rPr lang="es-ES" sz="2000" spc="19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respecto</a:t>
            </a:r>
            <a:r>
              <a:rPr lang="es-ES" sz="2000" spc="13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a la inversa calculada</a:t>
            </a:r>
            <a:r>
              <a:rPr lang="es-ES" sz="2000" spc="13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por métodos</a:t>
            </a:r>
            <a:r>
              <a:rPr lang="es-ES" sz="2000" spc="13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exactos.</a:t>
            </a:r>
            <a:endParaRPr lang="es-MX" sz="2000" dirty="0">
              <a:effectLst/>
              <a:latin typeface="Arial" panose="020B0604020202020204" pitchFamily="34" charset="0"/>
              <a:ea typeface="Times New Roman" panose="02020603050405020304" pitchFamily="18" charset="0"/>
              <a:cs typeface="Arial" panose="020B0604020202020204" pitchFamily="34" charset="0"/>
            </a:endParaRPr>
          </a:p>
          <a:p>
            <a:endParaRPr lang="es-MX" sz="1800" dirty="0">
              <a:effectLst/>
              <a:latin typeface="Times New Roman" panose="02020603050405020304" pitchFamily="18" charset="0"/>
              <a:ea typeface="Times New Roman" panose="02020603050405020304" pitchFamily="18" charset="0"/>
            </a:endParaRPr>
          </a:p>
          <a:p>
            <a:endParaRPr lang="es-MX" sz="1800" dirty="0">
              <a:effectLst/>
              <a:latin typeface="Times New Roman" panose="02020603050405020304" pitchFamily="18" charset="0"/>
              <a:ea typeface="Times New Roman" panose="02020603050405020304" pitchFamily="18" charset="0"/>
            </a:endParaRPr>
          </a:p>
          <a:p>
            <a:endParaRPr lang="es-ES" dirty="0"/>
          </a:p>
        </p:txBody>
      </p:sp>
    </p:spTree>
    <p:extLst>
      <p:ext uri="{BB962C8B-B14F-4D97-AF65-F5344CB8AC3E}">
        <p14:creationId xmlns:p14="http://schemas.microsoft.com/office/powerpoint/2010/main" val="272994211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4B1B7C-C822-0544-88DF-5D61C646BA68}"/>
              </a:ext>
            </a:extLst>
          </p:cNvPr>
          <p:cNvSpPr>
            <a:spLocks noGrp="1"/>
          </p:cNvSpPr>
          <p:nvPr>
            <p:ph type="title"/>
          </p:nvPr>
        </p:nvSpPr>
        <p:spPr>
          <a:xfrm>
            <a:off x="323528" y="175574"/>
            <a:ext cx="7687766" cy="653390"/>
          </a:xfrm>
        </p:spPr>
        <p:txBody>
          <a:bodyPr/>
          <a:lstStyle/>
          <a:p>
            <a:r>
              <a:rPr lang="es-ES" dirty="0">
                <a:latin typeface="Arial" panose="020B0604020202020204" pitchFamily="34" charset="0"/>
                <a:cs typeface="Arial" panose="020B0604020202020204" pitchFamily="34" charset="0"/>
              </a:rPr>
              <a:t>Entonces la solución seleccionada fue:</a:t>
            </a:r>
          </a:p>
        </p:txBody>
      </p:sp>
      <p:sp>
        <p:nvSpPr>
          <p:cNvPr id="3" name="Marcador de contenido 2">
            <a:extLst>
              <a:ext uri="{FF2B5EF4-FFF2-40B4-BE49-F238E27FC236}">
                <a16:creationId xmlns:a16="http://schemas.microsoft.com/office/drawing/2014/main" id="{943FF4CB-561A-4990-A01F-175E9F181E8E}"/>
              </a:ext>
            </a:extLst>
          </p:cNvPr>
          <p:cNvSpPr>
            <a:spLocks noGrp="1"/>
          </p:cNvSpPr>
          <p:nvPr>
            <p:ph idx="1"/>
          </p:nvPr>
        </p:nvSpPr>
        <p:spPr>
          <a:xfrm>
            <a:off x="107504" y="741902"/>
            <a:ext cx="8856984" cy="6215489"/>
          </a:xfrm>
        </p:spPr>
        <p:txBody>
          <a:bodyPr/>
          <a:lstStyle/>
          <a:p>
            <a:pPr algn="just">
              <a:lnSpc>
                <a:spcPct val="150000"/>
              </a:lnSpc>
            </a:pPr>
            <a:r>
              <a:rPr lang="es-ES" sz="1800" dirty="0">
                <a:effectLst/>
                <a:latin typeface="Arial" panose="020B0604020202020204" pitchFamily="34" charset="0"/>
                <a:ea typeface="Times New Roman" panose="02020603050405020304" pitchFamily="18" charset="0"/>
                <a:cs typeface="Arial" panose="020B0604020202020204" pitchFamily="34" charset="0"/>
              </a:rPr>
              <a:t>Una red neuronal multicapa (MLP), especializada en el dominio de matrices bien</a:t>
            </a:r>
            <a:r>
              <a:rPr lang="es-ES" sz="1800" spc="-5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condicionadas</a:t>
            </a:r>
            <a:r>
              <a:rPr lang="es-ES" sz="1800" spc="-5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(número</a:t>
            </a:r>
            <a:r>
              <a:rPr lang="es-ES" sz="1800" spc="-5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de</a:t>
            </a:r>
            <a:r>
              <a:rPr lang="es-ES" sz="1800" spc="-5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condición</a:t>
            </a:r>
            <a:r>
              <a:rPr lang="es-ES" sz="1800" spc="-5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menor</a:t>
            </a:r>
            <a:r>
              <a:rPr lang="es-ES" sz="1800" spc="-5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a</a:t>
            </a:r>
            <a:r>
              <a:rPr lang="es-ES" sz="1800" spc="-5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10),</a:t>
            </a:r>
            <a:r>
              <a:rPr lang="es-ES" sz="1800" spc="-5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que</a:t>
            </a:r>
            <a:r>
              <a:rPr lang="es-ES" sz="1800" spc="-5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recibe</a:t>
            </a:r>
            <a:r>
              <a:rPr lang="es-ES" sz="1800" spc="-5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la</a:t>
            </a:r>
            <a:r>
              <a:rPr lang="es-ES" sz="1800" spc="-5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matriz</a:t>
            </a:r>
            <a:r>
              <a:rPr lang="es-ES" sz="1800" spc="-5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aplanada como entrada y produce una aproximación inicial de su inversa.</a:t>
            </a:r>
          </a:p>
          <a:p>
            <a:pPr algn="just">
              <a:lnSpc>
                <a:spcPct val="150000"/>
              </a:lnSpc>
            </a:pPr>
            <a:r>
              <a:rPr lang="es-ES" sz="1800" spc="0" dirty="0">
                <a:effectLst/>
                <a:latin typeface="Arial" panose="020B0604020202020204" pitchFamily="34" charset="0"/>
                <a:ea typeface="Times New Roman" panose="02020603050405020304" pitchFamily="18" charset="0"/>
                <a:cs typeface="Arial" panose="020B0604020202020204" pitchFamily="34" charset="0"/>
              </a:rPr>
              <a:t>Una</a:t>
            </a:r>
            <a:r>
              <a:rPr lang="es-ES" sz="1800" spc="15"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inicialización</a:t>
            </a:r>
            <a:r>
              <a:rPr lang="es-ES" sz="1800" spc="15"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algebraica</a:t>
            </a:r>
            <a:r>
              <a:rPr lang="es-ES" sz="1800" spc="15"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clásica</a:t>
            </a:r>
            <a:r>
              <a:rPr lang="es-ES" sz="1800" spc="2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de</a:t>
            </a:r>
            <a:r>
              <a:rPr lang="es-ES" sz="1800" spc="15"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respaldo,</a:t>
            </a:r>
            <a:r>
              <a:rPr lang="es-ES" sz="1800" spc="5"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basada</a:t>
            </a:r>
            <a:r>
              <a:rPr lang="es-ES" sz="1800" spc="5"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en</a:t>
            </a:r>
            <a:r>
              <a:rPr lang="es-ES" sz="1800" spc="5"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la</a:t>
            </a:r>
            <a:r>
              <a:rPr lang="es-ES" sz="1800" spc="5" dirty="0">
                <a:effectLst/>
                <a:latin typeface="Arial" panose="020B0604020202020204" pitchFamily="34" charset="0"/>
                <a:ea typeface="Times New Roman" panose="02020603050405020304" pitchFamily="18" charset="0"/>
                <a:cs typeface="Arial" panose="020B0604020202020204" pitchFamily="34" charset="0"/>
              </a:rPr>
              <a:t> </a:t>
            </a:r>
            <a:r>
              <a:rPr lang="es-ES" sz="1800" spc="-10" dirty="0">
                <a:effectLst/>
                <a:latin typeface="Arial" panose="020B0604020202020204" pitchFamily="34" charset="0"/>
                <a:ea typeface="Times New Roman" panose="02020603050405020304" pitchFamily="18" charset="0"/>
                <a:cs typeface="Arial" panose="020B0604020202020204" pitchFamily="34" charset="0"/>
              </a:rPr>
              <a:t>fórmula:</a:t>
            </a:r>
          </a:p>
          <a:p>
            <a:pPr algn="just">
              <a:lnSpc>
                <a:spcPct val="150000"/>
              </a:lnSpc>
            </a:pPr>
            <a:endParaRPr lang="es-ES" sz="1800" spc="-10" dirty="0">
              <a:latin typeface="Arial" panose="020B0604020202020204" pitchFamily="34" charset="0"/>
              <a:ea typeface="Times New Roman" panose="02020603050405020304" pitchFamily="18" charset="0"/>
              <a:cs typeface="Arial" panose="020B0604020202020204" pitchFamily="34" charset="0"/>
            </a:endParaRPr>
          </a:p>
          <a:p>
            <a:pPr marL="0" indent="0" algn="just">
              <a:lnSpc>
                <a:spcPct val="150000"/>
              </a:lnSpc>
              <a:buNone/>
            </a:pPr>
            <a:r>
              <a:rPr lang="es-ES" sz="1800" spc="-1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que garantiza matemáticamente un punto de partida válido para matrices fuera del dominio de especialización de la red.</a:t>
            </a:r>
          </a:p>
          <a:p>
            <a:pPr algn="just">
              <a:lnSpc>
                <a:spcPct val="150000"/>
              </a:lnSpc>
            </a:pPr>
            <a:r>
              <a:rPr lang="es-ES" sz="1800" spc="0" dirty="0">
                <a:effectLst/>
                <a:latin typeface="Arial" panose="020B0604020202020204" pitchFamily="34" charset="0"/>
                <a:ea typeface="Times New Roman" panose="02020603050405020304" pitchFamily="18" charset="0"/>
                <a:cs typeface="Arial" panose="020B0604020202020204" pitchFamily="34" charset="0"/>
              </a:rPr>
              <a:t>El</a:t>
            </a:r>
            <a:r>
              <a:rPr lang="es-ES" sz="1800" spc="105"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método</a:t>
            </a:r>
            <a:r>
              <a:rPr lang="es-ES" sz="1800" spc="11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iterativo</a:t>
            </a:r>
            <a:r>
              <a:rPr lang="es-ES" sz="1800" spc="105"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de</a:t>
            </a:r>
            <a:r>
              <a:rPr lang="es-ES" sz="1800" spc="11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Newton-</a:t>
            </a:r>
            <a:r>
              <a:rPr lang="es-ES" sz="1800" spc="-10" dirty="0">
                <a:effectLst/>
                <a:latin typeface="Arial" panose="020B0604020202020204" pitchFamily="34" charset="0"/>
                <a:ea typeface="Times New Roman" panose="02020603050405020304" pitchFamily="18" charset="0"/>
                <a:cs typeface="Arial" panose="020B0604020202020204" pitchFamily="34" charset="0"/>
              </a:rPr>
              <a:t>Schulz</a:t>
            </a:r>
            <a:r>
              <a:rPr lang="es-ES" sz="1800" spc="-10" dirty="0">
                <a:latin typeface="Arial" panose="020B0604020202020204" pitchFamily="34" charset="0"/>
                <a:ea typeface="Times New Roman" panose="02020603050405020304" pitchFamily="18" charset="0"/>
                <a:cs typeface="Arial" panose="020B0604020202020204" pitchFamily="34" charset="0"/>
              </a:rPr>
              <a:t>:</a:t>
            </a:r>
          </a:p>
          <a:p>
            <a:pPr algn="just">
              <a:lnSpc>
                <a:spcPct val="150000"/>
              </a:lnSpc>
            </a:pPr>
            <a:endParaRPr lang="es-ES" sz="1800" spc="-10" dirty="0">
              <a:effectLst/>
              <a:latin typeface="Arial" panose="020B0604020202020204" pitchFamily="34" charset="0"/>
              <a:ea typeface="Times New Roman" panose="02020603050405020304" pitchFamily="18" charset="0"/>
              <a:cs typeface="Arial" panose="020B0604020202020204" pitchFamily="34" charset="0"/>
            </a:endParaRPr>
          </a:p>
          <a:p>
            <a:pPr marL="0" indent="0" algn="just">
              <a:lnSpc>
                <a:spcPct val="150000"/>
              </a:lnSpc>
              <a:buNone/>
            </a:pPr>
            <a:r>
              <a:rPr lang="es-ES" sz="1800" dirty="0">
                <a:effectLst/>
                <a:latin typeface="Arial" panose="020B0604020202020204" pitchFamily="34" charset="0"/>
                <a:ea typeface="Times New Roman" panose="02020603050405020304" pitchFamily="18" charset="0"/>
                <a:cs typeface="Arial" panose="020B0604020202020204" pitchFamily="34" charset="0"/>
              </a:rPr>
              <a:t>que refina cualquiera de los dos puntos de partida anteriores hasta alcanzar precisión de máquina, mediante convergencia cuadrática.</a:t>
            </a:r>
            <a:endParaRPr lang="es-MX" sz="1800" dirty="0">
              <a:effectLst/>
              <a:latin typeface="Arial" panose="020B0604020202020204" pitchFamily="34" charset="0"/>
              <a:ea typeface="Times New Roman" panose="02020603050405020304" pitchFamily="18" charset="0"/>
              <a:cs typeface="Arial" panose="020B0604020202020204" pitchFamily="34" charset="0"/>
            </a:endParaRPr>
          </a:p>
          <a:p>
            <a:pPr marL="0" indent="0" algn="just">
              <a:lnSpc>
                <a:spcPct val="150000"/>
              </a:lnSpc>
              <a:buNone/>
            </a:pPr>
            <a:endParaRPr lang="es-MX" sz="1800" spc="0" dirty="0">
              <a:effectLst/>
              <a:latin typeface="Arial" panose="020B0604020202020204" pitchFamily="34" charset="0"/>
              <a:ea typeface="Times New Roman" panose="02020603050405020304" pitchFamily="18" charset="0"/>
              <a:cs typeface="Arial" panose="020B0604020202020204" pitchFamily="34" charset="0"/>
            </a:endParaRPr>
          </a:p>
          <a:p>
            <a:endParaRPr lang="es-MX" sz="1800" spc="0" dirty="0">
              <a:effectLst/>
              <a:latin typeface="Times New Roman" panose="02020603050405020304" pitchFamily="18" charset="0"/>
              <a:ea typeface="Times New Roman" panose="02020603050405020304" pitchFamily="18" charset="0"/>
            </a:endParaRPr>
          </a:p>
          <a:p>
            <a:endParaRPr lang="es-ES" dirty="0"/>
          </a:p>
        </p:txBody>
      </p:sp>
      <p:pic>
        <p:nvPicPr>
          <p:cNvPr id="5" name="Imagen 4">
            <a:extLst>
              <a:ext uri="{FF2B5EF4-FFF2-40B4-BE49-F238E27FC236}">
                <a16:creationId xmlns:a16="http://schemas.microsoft.com/office/drawing/2014/main" id="{3F26A2F1-5FF0-860D-702D-A7632D9223E4}"/>
              </a:ext>
            </a:extLst>
          </p:cNvPr>
          <p:cNvPicPr>
            <a:picLocks noChangeAspect="1"/>
          </p:cNvPicPr>
          <p:nvPr/>
        </p:nvPicPr>
        <p:blipFill>
          <a:blip r:embed="rId2"/>
          <a:stretch>
            <a:fillRect/>
          </a:stretch>
        </p:blipFill>
        <p:spPr>
          <a:xfrm>
            <a:off x="3500287" y="2562488"/>
            <a:ext cx="2172003" cy="666843"/>
          </a:xfrm>
          <a:prstGeom prst="rect">
            <a:avLst/>
          </a:prstGeom>
        </p:spPr>
      </p:pic>
      <p:pic>
        <p:nvPicPr>
          <p:cNvPr id="7" name="Imagen 6">
            <a:extLst>
              <a:ext uri="{FF2B5EF4-FFF2-40B4-BE49-F238E27FC236}">
                <a16:creationId xmlns:a16="http://schemas.microsoft.com/office/drawing/2014/main" id="{E81B1095-DDCA-86EB-2C16-B4304077DC29}"/>
              </a:ext>
            </a:extLst>
          </p:cNvPr>
          <p:cNvPicPr>
            <a:picLocks noChangeAspect="1"/>
          </p:cNvPicPr>
          <p:nvPr/>
        </p:nvPicPr>
        <p:blipFill>
          <a:blip r:embed="rId3"/>
          <a:stretch>
            <a:fillRect/>
          </a:stretch>
        </p:blipFill>
        <p:spPr>
          <a:xfrm>
            <a:off x="3542737" y="4472478"/>
            <a:ext cx="2143424" cy="428685"/>
          </a:xfrm>
          <a:prstGeom prst="rect">
            <a:avLst/>
          </a:prstGeom>
        </p:spPr>
      </p:pic>
    </p:spTree>
    <p:extLst>
      <p:ext uri="{BB962C8B-B14F-4D97-AF65-F5344CB8AC3E}">
        <p14:creationId xmlns:p14="http://schemas.microsoft.com/office/powerpoint/2010/main" val="413862765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1CAC10C-26DF-15B9-867E-E876634F620F}"/>
              </a:ext>
            </a:extLst>
          </p:cNvPr>
          <p:cNvSpPr>
            <a:spLocks noGrp="1"/>
          </p:cNvSpPr>
          <p:nvPr>
            <p:ph idx="1"/>
          </p:nvPr>
        </p:nvSpPr>
        <p:spPr>
          <a:xfrm>
            <a:off x="287524" y="260648"/>
            <a:ext cx="8568952" cy="5556275"/>
          </a:xfrm>
        </p:spPr>
        <p:txBody>
          <a:bodyPr/>
          <a:lstStyle/>
          <a:p>
            <a:pPr marL="0" indent="0" algn="just">
              <a:lnSpc>
                <a:spcPct val="150000"/>
              </a:lnSpc>
              <a:buNone/>
            </a:pPr>
            <a:r>
              <a:rPr lang="es-ES" sz="3200" spc="-10" dirty="0">
                <a:effectLst/>
                <a:latin typeface="Times New Roman" panose="02020603050405020304" pitchFamily="18" charset="0"/>
                <a:ea typeface="Times New Roman" panose="02020603050405020304" pitchFamily="18" charset="0"/>
              </a:rPr>
              <a:t> </a:t>
            </a:r>
            <a:r>
              <a:rPr lang="es-ES" sz="2800" spc="-10" dirty="0">
                <a:effectLst/>
                <a:latin typeface="Arial" panose="020B0604020202020204" pitchFamily="34" charset="0"/>
                <a:ea typeface="Times New Roman" panose="02020603050405020304" pitchFamily="18" charset="0"/>
                <a:cs typeface="Arial" panose="020B0604020202020204" pitchFamily="34" charset="0"/>
              </a:rPr>
              <a:t>Esta</a:t>
            </a:r>
            <a:r>
              <a:rPr lang="es-ES" sz="2800" spc="-45" dirty="0">
                <a:effectLst/>
                <a:latin typeface="Arial" panose="020B0604020202020204" pitchFamily="34" charset="0"/>
                <a:ea typeface="Times New Roman" panose="02020603050405020304" pitchFamily="18" charset="0"/>
                <a:cs typeface="Arial" panose="020B0604020202020204" pitchFamily="34" charset="0"/>
              </a:rPr>
              <a:t> </a:t>
            </a:r>
            <a:r>
              <a:rPr lang="es-ES" sz="2800" spc="-10" dirty="0">
                <a:effectLst/>
                <a:latin typeface="Arial" panose="020B0604020202020204" pitchFamily="34" charset="0"/>
                <a:ea typeface="Times New Roman" panose="02020603050405020304" pitchFamily="18" charset="0"/>
                <a:cs typeface="Arial" panose="020B0604020202020204" pitchFamily="34" charset="0"/>
              </a:rPr>
              <a:t>combinación</a:t>
            </a:r>
            <a:r>
              <a:rPr lang="es-ES" sz="2800" spc="-45" dirty="0">
                <a:effectLst/>
                <a:latin typeface="Arial" panose="020B0604020202020204" pitchFamily="34" charset="0"/>
                <a:ea typeface="Times New Roman" panose="02020603050405020304" pitchFamily="18" charset="0"/>
                <a:cs typeface="Arial" panose="020B0604020202020204" pitchFamily="34" charset="0"/>
              </a:rPr>
              <a:t> </a:t>
            </a:r>
            <a:r>
              <a:rPr lang="es-ES" sz="2800" spc="-10" dirty="0">
                <a:effectLst/>
                <a:latin typeface="Arial" panose="020B0604020202020204" pitchFamily="34" charset="0"/>
                <a:ea typeface="Times New Roman" panose="02020603050405020304" pitchFamily="18" charset="0"/>
                <a:cs typeface="Arial" panose="020B0604020202020204" pitchFamily="34" charset="0"/>
              </a:rPr>
              <a:t>resuelve</a:t>
            </a:r>
            <a:r>
              <a:rPr lang="es-ES" sz="2800" spc="-45" dirty="0">
                <a:effectLst/>
                <a:latin typeface="Arial" panose="020B0604020202020204" pitchFamily="34" charset="0"/>
                <a:ea typeface="Times New Roman" panose="02020603050405020304" pitchFamily="18" charset="0"/>
                <a:cs typeface="Arial" panose="020B0604020202020204" pitchFamily="34" charset="0"/>
              </a:rPr>
              <a:t> </a:t>
            </a:r>
            <a:r>
              <a:rPr lang="es-ES" sz="2800" spc="-10" dirty="0">
                <a:effectLst/>
                <a:latin typeface="Arial" panose="020B0604020202020204" pitchFamily="34" charset="0"/>
                <a:ea typeface="Times New Roman" panose="02020603050405020304" pitchFamily="18" charset="0"/>
                <a:cs typeface="Arial" panose="020B0604020202020204" pitchFamily="34" charset="0"/>
              </a:rPr>
              <a:t>el</a:t>
            </a:r>
            <a:r>
              <a:rPr lang="es-ES" sz="2800" spc="-45" dirty="0">
                <a:effectLst/>
                <a:latin typeface="Arial" panose="020B0604020202020204" pitchFamily="34" charset="0"/>
                <a:ea typeface="Times New Roman" panose="02020603050405020304" pitchFamily="18" charset="0"/>
                <a:cs typeface="Arial" panose="020B0604020202020204" pitchFamily="34" charset="0"/>
              </a:rPr>
              <a:t> </a:t>
            </a:r>
            <a:r>
              <a:rPr lang="es-ES" sz="2800" spc="-10" dirty="0">
                <a:effectLst/>
                <a:latin typeface="Arial" panose="020B0604020202020204" pitchFamily="34" charset="0"/>
                <a:ea typeface="Times New Roman" panose="02020603050405020304" pitchFamily="18" charset="0"/>
                <a:cs typeface="Arial" panose="020B0604020202020204" pitchFamily="34" charset="0"/>
              </a:rPr>
              <a:t>problema</a:t>
            </a:r>
            <a:r>
              <a:rPr lang="es-ES" sz="2800" spc="-45" dirty="0">
                <a:effectLst/>
                <a:latin typeface="Arial" panose="020B0604020202020204" pitchFamily="34" charset="0"/>
                <a:ea typeface="Times New Roman" panose="02020603050405020304" pitchFamily="18" charset="0"/>
                <a:cs typeface="Arial" panose="020B0604020202020204" pitchFamily="34" charset="0"/>
              </a:rPr>
              <a:t> </a:t>
            </a:r>
            <a:r>
              <a:rPr lang="es-ES" sz="2800" spc="-10" dirty="0">
                <a:effectLst/>
                <a:latin typeface="Arial" panose="020B0604020202020204" pitchFamily="34" charset="0"/>
                <a:ea typeface="Times New Roman" panose="02020603050405020304" pitchFamily="18" charset="0"/>
                <a:cs typeface="Arial" panose="020B0604020202020204" pitchFamily="34" charset="0"/>
              </a:rPr>
              <a:t>porque</a:t>
            </a:r>
            <a:r>
              <a:rPr lang="es-ES" sz="2800" spc="-45" dirty="0">
                <a:effectLst/>
                <a:latin typeface="Arial" panose="020B0604020202020204" pitchFamily="34" charset="0"/>
                <a:ea typeface="Times New Roman" panose="02020603050405020304" pitchFamily="18" charset="0"/>
                <a:cs typeface="Arial" panose="020B0604020202020204" pitchFamily="34" charset="0"/>
              </a:rPr>
              <a:t> </a:t>
            </a:r>
            <a:r>
              <a:rPr lang="es-ES" sz="2800" spc="-10" dirty="0">
                <a:effectLst/>
                <a:latin typeface="Arial" panose="020B0604020202020204" pitchFamily="34" charset="0"/>
                <a:ea typeface="Times New Roman" panose="02020603050405020304" pitchFamily="18" charset="0"/>
                <a:cs typeface="Arial" panose="020B0604020202020204" pitchFamily="34" charset="0"/>
              </a:rPr>
              <a:t>aprovecha</a:t>
            </a:r>
            <a:r>
              <a:rPr lang="es-ES" sz="2800" spc="-45" dirty="0">
                <a:effectLst/>
                <a:latin typeface="Arial" panose="020B0604020202020204" pitchFamily="34" charset="0"/>
                <a:ea typeface="Times New Roman" panose="02020603050405020304" pitchFamily="18" charset="0"/>
                <a:cs typeface="Arial" panose="020B0604020202020204" pitchFamily="34" charset="0"/>
              </a:rPr>
              <a:t> </a:t>
            </a:r>
            <a:r>
              <a:rPr lang="es-ES" sz="2800" spc="-10" dirty="0">
                <a:effectLst/>
                <a:latin typeface="Arial" panose="020B0604020202020204" pitchFamily="34" charset="0"/>
                <a:ea typeface="Times New Roman" panose="02020603050405020304" pitchFamily="18" charset="0"/>
                <a:cs typeface="Arial" panose="020B0604020202020204" pitchFamily="34" charset="0"/>
              </a:rPr>
              <a:t>lo</a:t>
            </a:r>
            <a:r>
              <a:rPr lang="es-ES" sz="2800" spc="-45" dirty="0">
                <a:effectLst/>
                <a:latin typeface="Arial" panose="020B0604020202020204" pitchFamily="34" charset="0"/>
                <a:ea typeface="Times New Roman" panose="02020603050405020304" pitchFamily="18" charset="0"/>
                <a:cs typeface="Arial" panose="020B0604020202020204" pitchFamily="34" charset="0"/>
              </a:rPr>
              <a:t> </a:t>
            </a:r>
            <a:r>
              <a:rPr lang="es-ES" sz="2800" spc="-10" dirty="0">
                <a:effectLst/>
                <a:latin typeface="Arial" panose="020B0604020202020204" pitchFamily="34" charset="0"/>
                <a:ea typeface="Times New Roman" panose="02020603050405020304" pitchFamily="18" charset="0"/>
                <a:cs typeface="Arial" panose="020B0604020202020204" pitchFamily="34" charset="0"/>
              </a:rPr>
              <a:t>mejor</a:t>
            </a:r>
            <a:r>
              <a:rPr lang="es-ES" sz="2800" spc="-45" dirty="0">
                <a:effectLst/>
                <a:latin typeface="Arial" panose="020B0604020202020204" pitchFamily="34" charset="0"/>
                <a:ea typeface="Times New Roman" panose="02020603050405020304" pitchFamily="18" charset="0"/>
                <a:cs typeface="Arial" panose="020B0604020202020204" pitchFamily="34" charset="0"/>
              </a:rPr>
              <a:t> </a:t>
            </a:r>
            <a:r>
              <a:rPr lang="es-ES" sz="2800" spc="-10" dirty="0">
                <a:effectLst/>
                <a:latin typeface="Arial" panose="020B0604020202020204" pitchFamily="34" charset="0"/>
                <a:ea typeface="Times New Roman" panose="02020603050405020304" pitchFamily="18" charset="0"/>
                <a:cs typeface="Arial" panose="020B0604020202020204" pitchFamily="34" charset="0"/>
              </a:rPr>
              <a:t>de</a:t>
            </a:r>
            <a:r>
              <a:rPr lang="es-ES" sz="2800" spc="-45" dirty="0">
                <a:effectLst/>
                <a:latin typeface="Arial" panose="020B0604020202020204" pitchFamily="34" charset="0"/>
                <a:ea typeface="Times New Roman" panose="02020603050405020304" pitchFamily="18" charset="0"/>
                <a:cs typeface="Arial" panose="020B0604020202020204" pitchFamily="34" charset="0"/>
              </a:rPr>
              <a:t> </a:t>
            </a:r>
            <a:r>
              <a:rPr lang="es-ES" sz="2800" spc="-10" dirty="0">
                <a:effectLst/>
                <a:latin typeface="Arial" panose="020B0604020202020204" pitchFamily="34" charset="0"/>
                <a:ea typeface="Times New Roman" panose="02020603050405020304" pitchFamily="18" charset="0"/>
                <a:cs typeface="Arial" panose="020B0604020202020204" pitchFamily="34" charset="0"/>
              </a:rPr>
              <a:t>cada</a:t>
            </a:r>
            <a:r>
              <a:rPr lang="es-ES" sz="2800" spc="-45" dirty="0">
                <a:effectLst/>
                <a:latin typeface="Arial" panose="020B0604020202020204" pitchFamily="34" charset="0"/>
                <a:ea typeface="Times New Roman" panose="02020603050405020304" pitchFamily="18" charset="0"/>
                <a:cs typeface="Arial" panose="020B0604020202020204" pitchFamily="34" charset="0"/>
              </a:rPr>
              <a:t> </a:t>
            </a:r>
            <a:r>
              <a:rPr lang="es-ES" sz="2800" spc="-10" dirty="0">
                <a:effectLst/>
                <a:latin typeface="Arial" panose="020B0604020202020204" pitchFamily="34" charset="0"/>
                <a:ea typeface="Times New Roman" panose="02020603050405020304" pitchFamily="18" charset="0"/>
                <a:cs typeface="Arial" panose="020B0604020202020204" pitchFamily="34" charset="0"/>
              </a:rPr>
              <a:t>componente: </a:t>
            </a:r>
            <a:r>
              <a:rPr lang="es-ES" sz="2800" dirty="0">
                <a:effectLst/>
                <a:latin typeface="Arial" panose="020B0604020202020204" pitchFamily="34" charset="0"/>
                <a:ea typeface="Times New Roman" panose="02020603050405020304" pitchFamily="18" charset="0"/>
                <a:cs typeface="Arial" panose="020B0604020202020204" pitchFamily="34" charset="0"/>
              </a:rPr>
              <a:t>la red aporta velocidad y un enfoque basado en datos en el caso típico, mientras que el respaldo algebraico y el refinamiento iterativo aportan la garantía formal de precisión que una red neuronal, por sí sola, no puede ofrecer de forma consistente.</a:t>
            </a:r>
            <a:endParaRPr lang="es-E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486196"/>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3B61C1-9D0B-AF92-DA31-1BBB29EF8748}"/>
              </a:ext>
            </a:extLst>
          </p:cNvPr>
          <p:cNvSpPr>
            <a:spLocks noGrp="1"/>
          </p:cNvSpPr>
          <p:nvPr>
            <p:ph type="title"/>
          </p:nvPr>
        </p:nvSpPr>
        <p:spPr>
          <a:xfrm>
            <a:off x="258396" y="293117"/>
            <a:ext cx="5455518" cy="471587"/>
          </a:xfrm>
        </p:spPr>
        <p:txBody>
          <a:bodyPr/>
          <a:lstStyle/>
          <a:p>
            <a:r>
              <a:rPr lang="es-ES" sz="2800" b="1" dirty="0">
                <a:latin typeface="Arial" panose="020B0604020202020204" pitchFamily="34" charset="0"/>
                <a:cs typeface="Arial" panose="020B0604020202020204" pitchFamily="34" charset="0"/>
              </a:rPr>
              <a:t>FUNDAMENTO MATEMÁTICO</a:t>
            </a:r>
          </a:p>
        </p:txBody>
      </p:sp>
      <p:sp>
        <p:nvSpPr>
          <p:cNvPr id="3" name="Marcador de contenido 2">
            <a:extLst>
              <a:ext uri="{FF2B5EF4-FFF2-40B4-BE49-F238E27FC236}">
                <a16:creationId xmlns:a16="http://schemas.microsoft.com/office/drawing/2014/main" id="{6D0BE91C-2F6F-34B4-580C-3C121E45CE86}"/>
              </a:ext>
            </a:extLst>
          </p:cNvPr>
          <p:cNvSpPr>
            <a:spLocks noGrp="1"/>
          </p:cNvSpPr>
          <p:nvPr>
            <p:ph idx="1"/>
          </p:nvPr>
        </p:nvSpPr>
        <p:spPr>
          <a:xfrm>
            <a:off x="251520" y="1124744"/>
            <a:ext cx="8712968" cy="4824536"/>
          </a:xfrm>
        </p:spPr>
        <p:txBody>
          <a:bodyPr/>
          <a:lstStyle/>
          <a:p>
            <a:pPr marL="0" indent="0" algn="just">
              <a:lnSpc>
                <a:spcPct val="150000"/>
              </a:lnSpc>
              <a:buNone/>
            </a:pPr>
            <a:r>
              <a:rPr lang="es-ES" sz="2400" dirty="0">
                <a:latin typeface="Arial" panose="020B0604020202020204" pitchFamily="34" charset="0"/>
                <a:cs typeface="Arial" panose="020B0604020202020204" pitchFamily="34" charset="0"/>
              </a:rPr>
              <a:t>COMPOSICIÓN DE FUNCIONES:</a:t>
            </a:r>
          </a:p>
          <a:p>
            <a:pPr marL="0" indent="0" algn="just">
              <a:lnSpc>
                <a:spcPct val="150000"/>
              </a:lnSpc>
              <a:buNone/>
            </a:pPr>
            <a:r>
              <a:rPr lang="es-ES" sz="2400" dirty="0">
                <a:effectLst/>
                <a:latin typeface="Arial" panose="020B0604020202020204" pitchFamily="34" charset="0"/>
                <a:ea typeface="Times New Roman" panose="02020603050405020304" pitchFamily="18" charset="0"/>
                <a:cs typeface="Arial" panose="020B0604020202020204" pitchFamily="34" charset="0"/>
              </a:rPr>
              <a:t>Una</a:t>
            </a:r>
            <a:r>
              <a:rPr lang="es-ES" sz="2400" spc="-50" dirty="0">
                <a:effectLst/>
                <a:latin typeface="Arial" panose="020B0604020202020204" pitchFamily="34" charset="0"/>
                <a:ea typeface="Times New Roman" panose="02020603050405020304" pitchFamily="18" charset="0"/>
                <a:cs typeface="Arial" panose="020B0604020202020204" pitchFamily="34" charset="0"/>
              </a:rPr>
              <a:t> </a:t>
            </a:r>
            <a:r>
              <a:rPr lang="es-ES" sz="2400" dirty="0">
                <a:effectLst/>
                <a:latin typeface="Arial" panose="020B0604020202020204" pitchFamily="34" charset="0"/>
                <a:ea typeface="Times New Roman" panose="02020603050405020304" pitchFamily="18" charset="0"/>
                <a:cs typeface="Arial" panose="020B0604020202020204" pitchFamily="34" charset="0"/>
              </a:rPr>
              <a:t>red</a:t>
            </a:r>
            <a:r>
              <a:rPr lang="es-ES" sz="2400" spc="-50" dirty="0">
                <a:effectLst/>
                <a:latin typeface="Arial" panose="020B0604020202020204" pitchFamily="34" charset="0"/>
                <a:ea typeface="Times New Roman" panose="02020603050405020304" pitchFamily="18" charset="0"/>
                <a:cs typeface="Arial" panose="020B0604020202020204" pitchFamily="34" charset="0"/>
              </a:rPr>
              <a:t> </a:t>
            </a:r>
            <a:r>
              <a:rPr lang="es-ES" sz="2400" dirty="0">
                <a:effectLst/>
                <a:latin typeface="Arial" panose="020B0604020202020204" pitchFamily="34" charset="0"/>
                <a:ea typeface="Times New Roman" panose="02020603050405020304" pitchFamily="18" charset="0"/>
                <a:cs typeface="Arial" panose="020B0604020202020204" pitchFamily="34" charset="0"/>
              </a:rPr>
              <a:t>neuronal</a:t>
            </a:r>
            <a:r>
              <a:rPr lang="es-ES" sz="2400" spc="-50" dirty="0">
                <a:effectLst/>
                <a:latin typeface="Arial" panose="020B0604020202020204" pitchFamily="34" charset="0"/>
                <a:ea typeface="Times New Roman" panose="02020603050405020304" pitchFamily="18" charset="0"/>
                <a:cs typeface="Arial" panose="020B0604020202020204" pitchFamily="34" charset="0"/>
              </a:rPr>
              <a:t> </a:t>
            </a:r>
            <a:r>
              <a:rPr lang="es-ES" sz="2400" dirty="0">
                <a:effectLst/>
                <a:latin typeface="Arial" panose="020B0604020202020204" pitchFamily="34" charset="0"/>
                <a:ea typeface="Times New Roman" panose="02020603050405020304" pitchFamily="18" charset="0"/>
                <a:cs typeface="Arial" panose="020B0604020202020204" pitchFamily="34" charset="0"/>
              </a:rPr>
              <a:t>multicapa</a:t>
            </a:r>
            <a:r>
              <a:rPr lang="es-ES" sz="2400" spc="-50" dirty="0">
                <a:effectLst/>
                <a:latin typeface="Arial" panose="020B0604020202020204" pitchFamily="34" charset="0"/>
                <a:ea typeface="Times New Roman" panose="02020603050405020304" pitchFamily="18" charset="0"/>
                <a:cs typeface="Arial" panose="020B0604020202020204" pitchFamily="34" charset="0"/>
              </a:rPr>
              <a:t> </a:t>
            </a:r>
            <a:r>
              <a:rPr lang="es-ES" sz="2400" dirty="0">
                <a:effectLst/>
                <a:latin typeface="Arial" panose="020B0604020202020204" pitchFamily="34" charset="0"/>
                <a:ea typeface="Times New Roman" panose="02020603050405020304" pitchFamily="18" charset="0"/>
                <a:cs typeface="Arial" panose="020B0604020202020204" pitchFamily="34" charset="0"/>
              </a:rPr>
              <a:t>es,</a:t>
            </a:r>
            <a:r>
              <a:rPr lang="es-ES" sz="2400" spc="-50" dirty="0">
                <a:effectLst/>
                <a:latin typeface="Arial" panose="020B0604020202020204" pitchFamily="34" charset="0"/>
                <a:ea typeface="Times New Roman" panose="02020603050405020304" pitchFamily="18" charset="0"/>
                <a:cs typeface="Arial" panose="020B0604020202020204" pitchFamily="34" charset="0"/>
              </a:rPr>
              <a:t> </a:t>
            </a:r>
            <a:r>
              <a:rPr lang="es-ES" sz="2400" dirty="0">
                <a:effectLst/>
                <a:latin typeface="Arial" panose="020B0604020202020204" pitchFamily="34" charset="0"/>
                <a:ea typeface="Times New Roman" panose="02020603050405020304" pitchFamily="18" charset="0"/>
                <a:cs typeface="Arial" panose="020B0604020202020204" pitchFamily="34" charset="0"/>
              </a:rPr>
              <a:t>formalmente,</a:t>
            </a:r>
            <a:r>
              <a:rPr lang="es-ES" sz="2400" spc="-50" dirty="0">
                <a:effectLst/>
                <a:latin typeface="Arial" panose="020B0604020202020204" pitchFamily="34" charset="0"/>
                <a:ea typeface="Times New Roman" panose="02020603050405020304" pitchFamily="18" charset="0"/>
                <a:cs typeface="Arial" panose="020B0604020202020204" pitchFamily="34" charset="0"/>
              </a:rPr>
              <a:t> </a:t>
            </a:r>
            <a:r>
              <a:rPr lang="es-ES" sz="2400" dirty="0">
                <a:effectLst/>
                <a:latin typeface="Arial" panose="020B0604020202020204" pitchFamily="34" charset="0"/>
                <a:ea typeface="Times New Roman" panose="02020603050405020304" pitchFamily="18" charset="0"/>
                <a:cs typeface="Arial" panose="020B0604020202020204" pitchFamily="34" charset="0"/>
              </a:rPr>
              <a:t>una</a:t>
            </a:r>
            <a:r>
              <a:rPr lang="es-ES" sz="2400" spc="-50" dirty="0">
                <a:effectLst/>
                <a:latin typeface="Arial" panose="020B0604020202020204" pitchFamily="34" charset="0"/>
                <a:ea typeface="Times New Roman" panose="02020603050405020304" pitchFamily="18" charset="0"/>
                <a:cs typeface="Arial" panose="020B0604020202020204" pitchFamily="34" charset="0"/>
              </a:rPr>
              <a:t> </a:t>
            </a:r>
            <a:r>
              <a:rPr lang="es-ES" sz="2400" dirty="0">
                <a:effectLst/>
                <a:latin typeface="Arial" panose="020B0604020202020204" pitchFamily="34" charset="0"/>
                <a:ea typeface="Times New Roman" panose="02020603050405020304" pitchFamily="18" charset="0"/>
                <a:cs typeface="Arial" panose="020B0604020202020204" pitchFamily="34" charset="0"/>
              </a:rPr>
              <a:t>composición</a:t>
            </a:r>
            <a:r>
              <a:rPr lang="es-ES" sz="2400" spc="-50" dirty="0">
                <a:effectLst/>
                <a:latin typeface="Arial" panose="020B0604020202020204" pitchFamily="34" charset="0"/>
                <a:ea typeface="Times New Roman" panose="02020603050405020304" pitchFamily="18" charset="0"/>
                <a:cs typeface="Arial" panose="020B0604020202020204" pitchFamily="34" charset="0"/>
              </a:rPr>
              <a:t> </a:t>
            </a:r>
            <a:r>
              <a:rPr lang="es-ES" sz="2400" dirty="0">
                <a:effectLst/>
                <a:latin typeface="Arial" panose="020B0604020202020204" pitchFamily="34" charset="0"/>
                <a:ea typeface="Times New Roman" panose="02020603050405020304" pitchFamily="18" charset="0"/>
                <a:cs typeface="Arial" panose="020B0604020202020204" pitchFamily="34" charset="0"/>
              </a:rPr>
              <a:t>de</a:t>
            </a:r>
            <a:r>
              <a:rPr lang="es-ES" sz="2400" spc="-50" dirty="0">
                <a:effectLst/>
                <a:latin typeface="Arial" panose="020B0604020202020204" pitchFamily="34" charset="0"/>
                <a:ea typeface="Times New Roman" panose="02020603050405020304" pitchFamily="18" charset="0"/>
                <a:cs typeface="Arial" panose="020B0604020202020204" pitchFamily="34" charset="0"/>
              </a:rPr>
              <a:t> </a:t>
            </a:r>
            <a:r>
              <a:rPr lang="es-ES" sz="2400" dirty="0">
                <a:effectLst/>
                <a:latin typeface="Arial" panose="020B0604020202020204" pitchFamily="34" charset="0"/>
                <a:ea typeface="Times New Roman" panose="02020603050405020304" pitchFamily="18" charset="0"/>
                <a:cs typeface="Arial" panose="020B0604020202020204" pitchFamily="34" charset="0"/>
              </a:rPr>
              <a:t>funciones:</a:t>
            </a:r>
            <a:r>
              <a:rPr lang="es-ES" sz="2400" spc="-50" dirty="0">
                <a:effectLst/>
                <a:latin typeface="Arial" panose="020B0604020202020204" pitchFamily="34" charset="0"/>
                <a:ea typeface="Times New Roman" panose="02020603050405020304" pitchFamily="18" charset="0"/>
                <a:cs typeface="Arial" panose="020B0604020202020204" pitchFamily="34" charset="0"/>
              </a:rPr>
              <a:t> </a:t>
            </a:r>
            <a:r>
              <a:rPr lang="es-ES" sz="2400" dirty="0">
                <a:effectLst/>
                <a:latin typeface="Arial" panose="020B0604020202020204" pitchFamily="34" charset="0"/>
                <a:ea typeface="Times New Roman" panose="02020603050405020304" pitchFamily="18" charset="0"/>
                <a:cs typeface="Arial" panose="020B0604020202020204" pitchFamily="34" charset="0"/>
              </a:rPr>
              <a:t>cada</a:t>
            </a:r>
            <a:r>
              <a:rPr lang="es-ES" sz="2400" spc="-50" dirty="0">
                <a:effectLst/>
                <a:latin typeface="Arial" panose="020B0604020202020204" pitchFamily="34" charset="0"/>
                <a:ea typeface="Times New Roman" panose="02020603050405020304" pitchFamily="18" charset="0"/>
                <a:cs typeface="Arial" panose="020B0604020202020204" pitchFamily="34" charset="0"/>
              </a:rPr>
              <a:t> </a:t>
            </a:r>
            <a:r>
              <a:rPr lang="es-ES" sz="2400" dirty="0">
                <a:effectLst/>
                <a:latin typeface="Arial" panose="020B0604020202020204" pitchFamily="34" charset="0"/>
                <a:ea typeface="Times New Roman" panose="02020603050405020304" pitchFamily="18" charset="0"/>
                <a:cs typeface="Arial" panose="020B0604020202020204" pitchFamily="34" charset="0"/>
              </a:rPr>
              <a:t>capa transforma su entrada mediante una función, y la salida de una capa es la entrada de la siguiente. Definiendo cada capa de la red utilizada como una función:</a:t>
            </a:r>
            <a:endParaRPr lang="es-MX" sz="2400" dirty="0">
              <a:effectLst/>
              <a:latin typeface="Arial" panose="020B0604020202020204" pitchFamily="34" charset="0"/>
              <a:ea typeface="Times New Roman" panose="02020603050405020304" pitchFamily="18" charset="0"/>
              <a:cs typeface="Arial" panose="020B0604020202020204" pitchFamily="34" charset="0"/>
            </a:endParaRPr>
          </a:p>
          <a:p>
            <a:endParaRPr lang="es-ES" dirty="0"/>
          </a:p>
          <a:p>
            <a:endParaRPr lang="es-ES" dirty="0"/>
          </a:p>
          <a:p>
            <a:endParaRPr lang="es-ES" dirty="0"/>
          </a:p>
        </p:txBody>
      </p:sp>
      <p:pic>
        <p:nvPicPr>
          <p:cNvPr id="5" name="Imagen 4">
            <a:extLst>
              <a:ext uri="{FF2B5EF4-FFF2-40B4-BE49-F238E27FC236}">
                <a16:creationId xmlns:a16="http://schemas.microsoft.com/office/drawing/2014/main" id="{1882BCE5-8A29-0725-3CB9-0E9408BB4E82}"/>
              </a:ext>
            </a:extLst>
          </p:cNvPr>
          <p:cNvPicPr>
            <a:picLocks noChangeAspect="1"/>
          </p:cNvPicPr>
          <p:nvPr/>
        </p:nvPicPr>
        <p:blipFill>
          <a:blip r:embed="rId2"/>
          <a:stretch>
            <a:fillRect/>
          </a:stretch>
        </p:blipFill>
        <p:spPr>
          <a:xfrm>
            <a:off x="2411759" y="4077072"/>
            <a:ext cx="4320481" cy="1512168"/>
          </a:xfrm>
          <a:prstGeom prst="rect">
            <a:avLst/>
          </a:prstGeom>
        </p:spPr>
      </p:pic>
    </p:spTree>
    <p:extLst>
      <p:ext uri="{BB962C8B-B14F-4D97-AF65-F5344CB8AC3E}">
        <p14:creationId xmlns:p14="http://schemas.microsoft.com/office/powerpoint/2010/main" val="266499411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7974BB9-305C-2561-F2E8-D352CE2EA905}"/>
              </a:ext>
            </a:extLst>
          </p:cNvPr>
          <p:cNvSpPr>
            <a:spLocks noGrp="1"/>
          </p:cNvSpPr>
          <p:nvPr>
            <p:ph idx="1"/>
          </p:nvPr>
        </p:nvSpPr>
        <p:spPr>
          <a:xfrm>
            <a:off x="215516" y="188640"/>
            <a:ext cx="8712968" cy="5853961"/>
          </a:xfrm>
        </p:spPr>
        <p:txBody>
          <a:bodyPr/>
          <a:lstStyle/>
          <a:p>
            <a:pPr marL="0" indent="0" algn="just">
              <a:lnSpc>
                <a:spcPct val="150000"/>
              </a:lnSpc>
              <a:buNone/>
            </a:pPr>
            <a:r>
              <a:rPr lang="es-ES" sz="2400" dirty="0">
                <a:latin typeface="Arial" panose="020B0604020202020204" pitchFamily="34" charset="0"/>
                <a:cs typeface="Arial" panose="020B0604020202020204" pitchFamily="34" charset="0"/>
              </a:rPr>
              <a:t>Función de activación. </a:t>
            </a:r>
            <a:r>
              <a:rPr lang="es-ES" sz="2400" dirty="0" err="1">
                <a:latin typeface="Arial" panose="020B0604020202020204" pitchFamily="34" charset="0"/>
                <a:cs typeface="Arial" panose="020B0604020202020204" pitchFamily="34" charset="0"/>
              </a:rPr>
              <a:t>ReLu</a:t>
            </a:r>
            <a:r>
              <a:rPr lang="es-ES" sz="2400" dirty="0">
                <a:latin typeface="Arial" panose="020B0604020202020204" pitchFamily="34" charset="0"/>
                <a:cs typeface="Arial" panose="020B0604020202020204" pitchFamily="34" charset="0"/>
              </a:rPr>
              <a:t>:</a:t>
            </a:r>
          </a:p>
          <a:p>
            <a:pPr marL="0" indent="0" algn="just">
              <a:lnSpc>
                <a:spcPct val="150000"/>
              </a:lnSpc>
              <a:buNone/>
            </a:pPr>
            <a:r>
              <a:rPr lang="es-ES" sz="2400" dirty="0">
                <a:latin typeface="Arial" panose="020B0604020202020204" pitchFamily="34" charset="0"/>
                <a:cs typeface="Arial" panose="020B0604020202020204" pitchFamily="34" charset="0"/>
              </a:rPr>
              <a:t>Se utilizó la función </a:t>
            </a:r>
            <a:r>
              <a:rPr lang="es-ES" sz="2400" i="1" dirty="0" err="1">
                <a:latin typeface="Arial" panose="020B0604020202020204" pitchFamily="34" charset="0"/>
                <a:cs typeface="Arial" panose="020B0604020202020204" pitchFamily="34" charset="0"/>
              </a:rPr>
              <a:t>Rectified</a:t>
            </a:r>
            <a:r>
              <a:rPr lang="es-ES" sz="2400" i="1" dirty="0">
                <a:latin typeface="Arial" panose="020B0604020202020204" pitchFamily="34" charset="0"/>
                <a:cs typeface="Arial" panose="020B0604020202020204" pitchFamily="34" charset="0"/>
              </a:rPr>
              <a:t> Linear </a:t>
            </a:r>
            <a:r>
              <a:rPr lang="es-ES" sz="2400" i="1" dirty="0" err="1">
                <a:latin typeface="Arial" panose="020B0604020202020204" pitchFamily="34" charset="0"/>
                <a:cs typeface="Arial" panose="020B0604020202020204" pitchFamily="34" charset="0"/>
              </a:rPr>
              <a:t>Unit</a:t>
            </a:r>
            <a:r>
              <a:rPr lang="es-ES" sz="2400" i="1" dirty="0">
                <a:latin typeface="Arial" panose="020B0604020202020204" pitchFamily="34" charset="0"/>
                <a:cs typeface="Arial" panose="020B0604020202020204" pitchFamily="34" charset="0"/>
              </a:rPr>
              <a:t> </a:t>
            </a:r>
            <a:r>
              <a:rPr lang="es-ES" sz="2400" dirty="0">
                <a:latin typeface="Arial" panose="020B0604020202020204" pitchFamily="34" charset="0"/>
                <a:cs typeface="Arial" panose="020B0604020202020204" pitchFamily="34" charset="0"/>
              </a:rPr>
              <a:t>(</a:t>
            </a:r>
            <a:r>
              <a:rPr lang="es-ES" sz="2400" dirty="0" err="1">
                <a:latin typeface="Arial" panose="020B0604020202020204" pitchFamily="34" charset="0"/>
                <a:cs typeface="Arial" panose="020B0604020202020204" pitchFamily="34" charset="0"/>
              </a:rPr>
              <a:t>ReLU</a:t>
            </a:r>
            <a:r>
              <a:rPr lang="es-ES" sz="2400" dirty="0">
                <a:latin typeface="Arial" panose="020B0604020202020204" pitchFamily="34" charset="0"/>
                <a:cs typeface="Arial" panose="020B0604020202020204" pitchFamily="34" charset="0"/>
              </a:rPr>
              <a:t>) definida de esta manera                        </a:t>
            </a:r>
          </a:p>
          <a:p>
            <a:pPr marL="0" indent="0" algn="just">
              <a:lnSpc>
                <a:spcPct val="150000"/>
              </a:lnSpc>
              <a:buNone/>
            </a:pPr>
            <a:r>
              <a:rPr lang="es-ES" sz="2400" dirty="0">
                <a:latin typeface="Arial" panose="020B0604020202020204" pitchFamily="34" charset="0"/>
                <a:cs typeface="Arial" panose="020B0604020202020204" pitchFamily="34" charset="0"/>
              </a:rPr>
              <a:t>Dado su bajo costo computacional con respecto a sigmoide o tangente hiperbólica que requieren evaluar exponentes. Para el problema del gradiente que se desvanece que hace que su derivada sea constante e igual a 1 evitando que el gradiente se atenúe excesivamente al propagarse hacia atrás. Además es la función de activación estándar en arquitecturas MLP para tareas de regresión no lineal.</a:t>
            </a:r>
          </a:p>
          <a:p>
            <a:endParaRPr lang="es-ES" dirty="0"/>
          </a:p>
        </p:txBody>
      </p:sp>
      <p:pic>
        <p:nvPicPr>
          <p:cNvPr id="7" name="Imagen 6">
            <a:extLst>
              <a:ext uri="{FF2B5EF4-FFF2-40B4-BE49-F238E27FC236}">
                <a16:creationId xmlns:a16="http://schemas.microsoft.com/office/drawing/2014/main" id="{B5193751-5D1E-18EB-4A5B-6363F92420CC}"/>
              </a:ext>
            </a:extLst>
          </p:cNvPr>
          <p:cNvPicPr>
            <a:picLocks noChangeAspect="1"/>
          </p:cNvPicPr>
          <p:nvPr/>
        </p:nvPicPr>
        <p:blipFill>
          <a:blip r:embed="rId2"/>
          <a:stretch>
            <a:fillRect/>
          </a:stretch>
        </p:blipFill>
        <p:spPr>
          <a:xfrm>
            <a:off x="2262782" y="1556792"/>
            <a:ext cx="2309218" cy="360040"/>
          </a:xfrm>
          <a:prstGeom prst="rect">
            <a:avLst/>
          </a:prstGeom>
        </p:spPr>
      </p:pic>
    </p:spTree>
    <p:extLst>
      <p:ext uri="{BB962C8B-B14F-4D97-AF65-F5344CB8AC3E}">
        <p14:creationId xmlns:p14="http://schemas.microsoft.com/office/powerpoint/2010/main" val="3292742310"/>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64CD2C-5D9F-2979-5FC5-6DCC7D53B9D1}"/>
              </a:ext>
            </a:extLst>
          </p:cNvPr>
          <p:cNvSpPr>
            <a:spLocks noGrp="1"/>
          </p:cNvSpPr>
          <p:nvPr>
            <p:ph type="title"/>
          </p:nvPr>
        </p:nvSpPr>
        <p:spPr>
          <a:xfrm>
            <a:off x="323528" y="188640"/>
            <a:ext cx="6391622" cy="492397"/>
          </a:xfrm>
        </p:spPr>
        <p:txBody>
          <a:bodyPr/>
          <a:lstStyle/>
          <a:p>
            <a:r>
              <a:rPr lang="es-ES" sz="3200" b="1" dirty="0">
                <a:latin typeface="Arial" panose="020B0604020202020204" pitchFamily="34" charset="0"/>
                <a:cs typeface="Arial" panose="020B0604020202020204" pitchFamily="34" charset="0"/>
              </a:rPr>
              <a:t>Cantidad de Neuronas y Capas</a:t>
            </a:r>
          </a:p>
        </p:txBody>
      </p:sp>
      <p:sp>
        <p:nvSpPr>
          <p:cNvPr id="3" name="Marcador de contenido 2">
            <a:extLst>
              <a:ext uri="{FF2B5EF4-FFF2-40B4-BE49-F238E27FC236}">
                <a16:creationId xmlns:a16="http://schemas.microsoft.com/office/drawing/2014/main" id="{2238E8BC-A4FF-87F9-1CCF-4CE0D4CF590F}"/>
              </a:ext>
            </a:extLst>
          </p:cNvPr>
          <p:cNvSpPr>
            <a:spLocks noGrp="1"/>
          </p:cNvSpPr>
          <p:nvPr>
            <p:ph idx="1"/>
          </p:nvPr>
        </p:nvSpPr>
        <p:spPr>
          <a:xfrm>
            <a:off x="323528" y="684046"/>
            <a:ext cx="8496944" cy="5985313"/>
          </a:xfrm>
        </p:spPr>
        <p:txBody>
          <a:bodyPr/>
          <a:lstStyle/>
          <a:p>
            <a:pPr algn="just">
              <a:lnSpc>
                <a:spcPct val="150000"/>
              </a:lnSpc>
            </a:pPr>
            <a:r>
              <a:rPr lang="es-ES" sz="2000" dirty="0">
                <a:latin typeface="Arial" panose="020B0604020202020204" pitchFamily="34" charset="0"/>
                <a:cs typeface="Arial" panose="020B0604020202020204" pitchFamily="34" charset="0"/>
              </a:rPr>
              <a:t>Las capas de entrada y de salida tienen 16 neuronas debido a que la matriz 4x4 queda aplanada en un vector y se obtienen 16 valores de entrada y por supuesto de salida en la inversa</a:t>
            </a:r>
          </a:p>
          <a:p>
            <a:pPr algn="just">
              <a:lnSpc>
                <a:spcPct val="150000"/>
              </a:lnSpc>
            </a:pPr>
            <a:r>
              <a:rPr lang="es-ES" sz="2000" dirty="0">
                <a:latin typeface="Arial" panose="020B0604020202020204" pitchFamily="34" charset="0"/>
                <a:cs typeface="Arial" panose="020B0604020202020204" pitchFamily="34" charset="0"/>
              </a:rPr>
              <a:t>Las capas ocultas tienen 128, 256, 128 respectivamente siguiendo un patrón de expansión y compresión</a:t>
            </a:r>
          </a:p>
          <a:p>
            <a:pPr algn="just">
              <a:lnSpc>
                <a:spcPct val="150000"/>
              </a:lnSpc>
            </a:pPr>
            <a:r>
              <a:rPr lang="es-ES" sz="2000" dirty="0">
                <a:effectLst/>
                <a:latin typeface="Arial" panose="020B0604020202020204" pitchFamily="34" charset="0"/>
                <a:ea typeface="Times New Roman" panose="02020603050405020304" pitchFamily="18" charset="0"/>
                <a:cs typeface="Arial" panose="020B0604020202020204" pitchFamily="34" charset="0"/>
              </a:rPr>
              <a:t>La</a:t>
            </a:r>
            <a:r>
              <a:rPr lang="es-ES" sz="2000" spc="-1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expansión</a:t>
            </a:r>
            <a:r>
              <a:rPr lang="es-ES" sz="2000" spc="-1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inicial</a:t>
            </a:r>
            <a:r>
              <a:rPr lang="es-ES" sz="2000" spc="-1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provee</a:t>
            </a:r>
            <a:r>
              <a:rPr lang="es-ES" sz="2000" spc="-1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a</a:t>
            </a:r>
            <a:r>
              <a:rPr lang="es-ES" sz="2000" spc="-1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la</a:t>
            </a:r>
            <a:r>
              <a:rPr lang="es-ES" sz="2000" spc="-1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red</a:t>
            </a:r>
            <a:r>
              <a:rPr lang="es-ES" sz="2000" spc="-1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mayor</a:t>
            </a:r>
            <a:r>
              <a:rPr lang="es-ES" sz="2000" spc="-1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capacidad</a:t>
            </a:r>
            <a:r>
              <a:rPr lang="es-ES" sz="2000" spc="-1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de</a:t>
            </a:r>
            <a:r>
              <a:rPr lang="es-ES" sz="2000" spc="-1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representación</a:t>
            </a:r>
            <a:r>
              <a:rPr lang="es-ES" sz="2000" spc="20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más</a:t>
            </a:r>
            <a:r>
              <a:rPr lang="es-ES" sz="2000" spc="-1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combinaciones lineales distintas de las 16 entradas</a:t>
            </a:r>
            <a:r>
              <a:rPr lang="es-ES" sz="2000" spc="20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necesaria porque la inversión de matrices involucra relaciones no lineales complejas entre todos los elementos de la matriz (determinantes, cofactores). La compresión posterior reduce gradualmente la dimensionalidad hacia</a:t>
            </a:r>
            <a:r>
              <a:rPr lang="es-ES" sz="2000" spc="20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el</a:t>
            </a:r>
            <a:r>
              <a:rPr lang="es-ES" sz="2000" spc="20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tamaño</a:t>
            </a:r>
            <a:r>
              <a:rPr lang="es-ES" sz="2000" spc="20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de</a:t>
            </a:r>
            <a:r>
              <a:rPr lang="es-ES" sz="2000" spc="20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salida</a:t>
            </a:r>
            <a:r>
              <a:rPr lang="es-ES" sz="2000" spc="20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requerido,</a:t>
            </a:r>
            <a:r>
              <a:rPr lang="es-ES" sz="2000" spc="20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evitando</a:t>
            </a:r>
            <a:r>
              <a:rPr lang="es-ES" sz="2000" spc="20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una</a:t>
            </a:r>
            <a:r>
              <a:rPr lang="es-ES" sz="2000" spc="20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transición</a:t>
            </a:r>
            <a:r>
              <a:rPr lang="es-ES" sz="2000" spc="20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abrupta.</a:t>
            </a:r>
            <a:endParaRPr lang="es-MX" sz="2000" dirty="0">
              <a:effectLst/>
              <a:latin typeface="Arial" panose="020B0604020202020204" pitchFamily="34" charset="0"/>
              <a:ea typeface="Times New Roman" panose="02020603050405020304" pitchFamily="18" charset="0"/>
              <a:cs typeface="Arial" panose="020B0604020202020204" pitchFamily="34" charset="0"/>
            </a:endParaRPr>
          </a:p>
          <a:p>
            <a:endParaRPr lang="es-ES" dirty="0"/>
          </a:p>
        </p:txBody>
      </p:sp>
    </p:spTree>
    <p:extLst>
      <p:ext uri="{BB962C8B-B14F-4D97-AF65-F5344CB8AC3E}">
        <p14:creationId xmlns:p14="http://schemas.microsoft.com/office/powerpoint/2010/main" val="236227430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D47E0D-642F-BB7E-BEBD-147B28A8A238}"/>
              </a:ext>
            </a:extLst>
          </p:cNvPr>
          <p:cNvSpPr>
            <a:spLocks noGrp="1"/>
          </p:cNvSpPr>
          <p:nvPr>
            <p:ph type="title"/>
          </p:nvPr>
        </p:nvSpPr>
        <p:spPr>
          <a:xfrm>
            <a:off x="251520" y="188640"/>
            <a:ext cx="5671542" cy="543595"/>
          </a:xfrm>
        </p:spPr>
        <p:txBody>
          <a:bodyPr/>
          <a:lstStyle/>
          <a:p>
            <a:r>
              <a:rPr lang="es-ES" sz="2800" b="1" dirty="0">
                <a:latin typeface="Arial" panose="020B0604020202020204" pitchFamily="34" charset="0"/>
                <a:cs typeface="Arial" panose="020B0604020202020204" pitchFamily="34" charset="0"/>
              </a:rPr>
              <a:t>Tipo de Enlace entre Neuronas</a:t>
            </a:r>
          </a:p>
        </p:txBody>
      </p:sp>
      <p:sp>
        <p:nvSpPr>
          <p:cNvPr id="3" name="Marcador de contenido 2">
            <a:extLst>
              <a:ext uri="{FF2B5EF4-FFF2-40B4-BE49-F238E27FC236}">
                <a16:creationId xmlns:a16="http://schemas.microsoft.com/office/drawing/2014/main" id="{D5B27D9F-2D0D-F26B-80E4-D906FFA0E4C5}"/>
              </a:ext>
            </a:extLst>
          </p:cNvPr>
          <p:cNvSpPr>
            <a:spLocks noGrp="1"/>
          </p:cNvSpPr>
          <p:nvPr>
            <p:ph idx="1"/>
          </p:nvPr>
        </p:nvSpPr>
        <p:spPr>
          <a:xfrm>
            <a:off x="251520" y="821282"/>
            <a:ext cx="8640960" cy="5488037"/>
          </a:xfrm>
        </p:spPr>
        <p:txBody>
          <a:bodyPr/>
          <a:lstStyle/>
          <a:p>
            <a:pPr marL="0" indent="0" algn="just">
              <a:lnSpc>
                <a:spcPct val="150000"/>
              </a:lnSpc>
              <a:buNone/>
            </a:pPr>
            <a:r>
              <a:rPr lang="es-ES" sz="1800" dirty="0">
                <a:effectLst/>
                <a:latin typeface="Arial" panose="020B0604020202020204" pitchFamily="34" charset="0"/>
                <a:ea typeface="Times New Roman" panose="02020603050405020304" pitchFamily="18" charset="0"/>
                <a:cs typeface="Arial" panose="020B0604020202020204" pitchFamily="34" charset="0"/>
              </a:rPr>
              <a:t>Se utilizaron capas totalmente conectadas (</a:t>
            </a:r>
            <a:r>
              <a:rPr lang="es-ES" sz="1800" dirty="0" err="1">
                <a:effectLst/>
                <a:latin typeface="Arial" panose="020B0604020202020204" pitchFamily="34" charset="0"/>
                <a:ea typeface="Times New Roman" panose="02020603050405020304" pitchFamily="18" charset="0"/>
                <a:cs typeface="Arial" panose="020B0604020202020204" pitchFamily="34" charset="0"/>
              </a:rPr>
              <a:t>fully</a:t>
            </a:r>
            <a:r>
              <a:rPr lang="es-ES" sz="18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err="1">
                <a:effectLst/>
                <a:latin typeface="Arial" panose="020B0604020202020204" pitchFamily="34" charset="0"/>
                <a:ea typeface="Times New Roman" panose="02020603050405020304" pitchFamily="18" charset="0"/>
                <a:cs typeface="Arial" panose="020B0604020202020204" pitchFamily="34" charset="0"/>
              </a:rPr>
              <a:t>connected</a:t>
            </a:r>
            <a:r>
              <a:rPr lang="es-ES" sz="1800" dirty="0">
                <a:effectLst/>
                <a:latin typeface="Arial" panose="020B0604020202020204" pitchFamily="34" charset="0"/>
                <a:ea typeface="Times New Roman" panose="02020603050405020304" pitchFamily="18" charset="0"/>
                <a:cs typeface="Arial" panose="020B0604020202020204" pitchFamily="34" charset="0"/>
              </a:rPr>
              <a:t> /</a:t>
            </a:r>
            <a:r>
              <a:rPr lang="es-ES" sz="1800" spc="-11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densas), en las que cada neurona de una capa se conecta con todas las neuronas de la capa siguiente. Esto se expresa, en cada capa, como la operación matricial:</a:t>
            </a:r>
          </a:p>
          <a:p>
            <a:pPr marL="0" indent="0" algn="just">
              <a:lnSpc>
                <a:spcPct val="150000"/>
              </a:lnSpc>
              <a:buNone/>
            </a:pPr>
            <a:r>
              <a:rPr lang="es-ES" sz="1800" dirty="0">
                <a:effectLst/>
                <a:latin typeface="Arial" panose="020B0604020202020204" pitchFamily="34" charset="0"/>
                <a:ea typeface="Times New Roman" panose="02020603050405020304" pitchFamily="18" charset="0"/>
                <a:cs typeface="Arial" panose="020B0604020202020204" pitchFamily="34" charset="0"/>
              </a:rPr>
              <a:t>Esta</a:t>
            </a:r>
            <a:r>
              <a:rPr lang="es-ES" sz="1800" spc="36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elección</a:t>
            </a:r>
            <a:r>
              <a:rPr lang="es-ES" sz="1800" spc="36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se</a:t>
            </a:r>
            <a:r>
              <a:rPr lang="es-ES" sz="1800" spc="36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justi</a:t>
            </a:r>
            <a:r>
              <a:rPr lang="es-ES" sz="1800" spc="155" dirty="0">
                <a:latin typeface="Arial" panose="020B0604020202020204" pitchFamily="34" charset="0"/>
                <a:ea typeface="Times New Roman" panose="02020603050405020304" pitchFamily="18" charset="0"/>
                <a:cs typeface="Arial" panose="020B0604020202020204" pitchFamily="34" charset="0"/>
              </a:rPr>
              <a:t>fica</a:t>
            </a:r>
            <a:r>
              <a:rPr lang="es-ES" sz="1800" spc="36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por</a:t>
            </a:r>
            <a:r>
              <a:rPr lang="es-ES" sz="1800" spc="36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la</a:t>
            </a:r>
            <a:r>
              <a:rPr lang="es-ES" sz="1800" spc="36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naturaleza</a:t>
            </a:r>
            <a:r>
              <a:rPr lang="es-ES" sz="1800" spc="36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del</a:t>
            </a:r>
            <a:r>
              <a:rPr lang="es-ES" sz="1800" spc="36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problema:</a:t>
            </a:r>
            <a:r>
              <a:rPr lang="es-ES" sz="1800" dirty="0">
                <a:latin typeface="Arial" panose="020B0604020202020204" pitchFamily="34" charset="0"/>
                <a:ea typeface="Times New Roman" panose="02020603050405020304" pitchFamily="18" charset="0"/>
                <a:cs typeface="Arial" panose="020B0604020202020204" pitchFamily="34" charset="0"/>
              </a:rPr>
              <a:t> </a:t>
            </a:r>
          </a:p>
          <a:p>
            <a:pPr marL="0" indent="0" algn="just">
              <a:lnSpc>
                <a:spcPct val="150000"/>
              </a:lnSpc>
              <a:buNone/>
            </a:pPr>
            <a:r>
              <a:rPr lang="es-ES" sz="1800" dirty="0">
                <a:effectLst/>
                <a:latin typeface="Arial" panose="020B0604020202020204" pitchFamily="34" charset="0"/>
                <a:ea typeface="Times New Roman" panose="02020603050405020304" pitchFamily="18" charset="0"/>
                <a:cs typeface="Arial" panose="020B0604020202020204" pitchFamily="34" charset="0"/>
              </a:rPr>
              <a:t>En el caso de una matriz aplanada, el cálculo de un cofactor o del determinante combina elementos de la matriz</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sin</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importar</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su</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posición</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relativa</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en</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el</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arreglo</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aplanado. </a:t>
            </a:r>
            <a:r>
              <a:rPr lang="es-ES" sz="1800" dirty="0">
                <a:latin typeface="Arial" panose="020B0604020202020204" pitchFamily="34" charset="0"/>
                <a:ea typeface="Times New Roman" panose="02020603050405020304" pitchFamily="18" charset="0"/>
                <a:cs typeface="Arial" panose="020B0604020202020204" pitchFamily="34" charset="0"/>
              </a:rPr>
              <a:t>L</a:t>
            </a:r>
            <a:r>
              <a:rPr lang="es-ES" sz="1800" dirty="0">
                <a:effectLst/>
                <a:latin typeface="Arial" panose="020B0604020202020204" pitchFamily="34" charset="0"/>
                <a:ea typeface="Times New Roman" panose="02020603050405020304" pitchFamily="18" charset="0"/>
                <a:cs typeface="Arial" panose="020B0604020202020204" pitchFamily="34" charset="0"/>
              </a:rPr>
              <a:t>a</a:t>
            </a:r>
            <a:r>
              <a:rPr lang="es-ES" sz="1800" spc="36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alternativa</a:t>
            </a:r>
            <a:r>
              <a:rPr lang="es-ES" sz="1800" spc="36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más</a:t>
            </a:r>
            <a:r>
              <a:rPr lang="es-ES" sz="1800" spc="36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común a</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este</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tipo</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de</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enlace</a:t>
            </a:r>
            <a:r>
              <a:rPr lang="es-ES" sz="1800" spc="385" dirty="0">
                <a:effectLst/>
                <a:latin typeface="Arial" panose="020B0604020202020204" pitchFamily="34" charset="0"/>
                <a:ea typeface="Times New Roman" panose="02020603050405020304" pitchFamily="18" charset="0"/>
                <a:cs typeface="Arial" panose="020B0604020202020204" pitchFamily="34" charset="0"/>
              </a:rPr>
              <a:t> </a:t>
            </a:r>
            <a:r>
              <a:rPr lang="es-ES" sz="1800" spc="385" dirty="0">
                <a:latin typeface="Arial" panose="020B0604020202020204" pitchFamily="34" charset="0"/>
                <a:ea typeface="Times New Roman" panose="02020603050405020304" pitchFamily="18" charset="0"/>
                <a:cs typeface="Arial" panose="020B0604020202020204" pitchFamily="34" charset="0"/>
              </a:rPr>
              <a:t>son </a:t>
            </a:r>
            <a:r>
              <a:rPr lang="es-ES" sz="1800" dirty="0">
                <a:effectLst/>
                <a:latin typeface="Arial" panose="020B0604020202020204" pitchFamily="34" charset="0"/>
                <a:ea typeface="Times New Roman" panose="02020603050405020304" pitchFamily="18" charset="0"/>
                <a:cs typeface="Arial" panose="020B0604020202020204" pitchFamily="34" charset="0"/>
              </a:rPr>
              <a:t>las</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conexiones</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convolucionales,</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donde</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cada</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neurona</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de</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salida</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se</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conecta</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solo</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a</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una</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vecindad</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local</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de</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la</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entrada. Pero restringir</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las</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conexiones a</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vecindades</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locales</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impediría</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a</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la</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red</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aprender</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relaciones</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entre</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elementos</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distantes</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en</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el vector aplanado pero relevantes en términos matriciales.</a:t>
            </a:r>
            <a:endParaRPr lang="es-MX" sz="1800" dirty="0">
              <a:effectLst/>
              <a:latin typeface="Arial" panose="020B0604020202020204" pitchFamily="34" charset="0"/>
              <a:ea typeface="Times New Roman" panose="02020603050405020304" pitchFamily="18" charset="0"/>
              <a:cs typeface="Arial" panose="020B0604020202020204" pitchFamily="34" charset="0"/>
            </a:endParaRPr>
          </a:p>
        </p:txBody>
      </p:sp>
      <p:pic>
        <p:nvPicPr>
          <p:cNvPr id="5" name="Imagen 4">
            <a:extLst>
              <a:ext uri="{FF2B5EF4-FFF2-40B4-BE49-F238E27FC236}">
                <a16:creationId xmlns:a16="http://schemas.microsoft.com/office/drawing/2014/main" id="{76C4C4FD-27FA-37EF-0A2D-69E4BEA24C6E}"/>
              </a:ext>
            </a:extLst>
          </p:cNvPr>
          <p:cNvPicPr>
            <a:picLocks noChangeAspect="1"/>
          </p:cNvPicPr>
          <p:nvPr/>
        </p:nvPicPr>
        <p:blipFill>
          <a:blip r:embed="rId2"/>
          <a:stretch>
            <a:fillRect/>
          </a:stretch>
        </p:blipFill>
        <p:spPr>
          <a:xfrm>
            <a:off x="7538397" y="1844824"/>
            <a:ext cx="1351532" cy="288032"/>
          </a:xfrm>
          <a:prstGeom prst="rect">
            <a:avLst/>
          </a:prstGeom>
        </p:spPr>
      </p:pic>
    </p:spTree>
    <p:extLst>
      <p:ext uri="{BB962C8B-B14F-4D97-AF65-F5344CB8AC3E}">
        <p14:creationId xmlns:p14="http://schemas.microsoft.com/office/powerpoint/2010/main" val="217039319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F972C-0D9F-3063-C03E-8C40769C020F}"/>
              </a:ext>
            </a:extLst>
          </p:cNvPr>
          <p:cNvSpPr>
            <a:spLocks noGrp="1"/>
          </p:cNvSpPr>
          <p:nvPr>
            <p:ph type="title"/>
          </p:nvPr>
        </p:nvSpPr>
        <p:spPr>
          <a:xfrm>
            <a:off x="395536" y="188640"/>
            <a:ext cx="3667495" cy="525740"/>
          </a:xfrm>
        </p:spPr>
        <p:txBody>
          <a:bodyPr/>
          <a:lstStyle/>
          <a:p>
            <a:r>
              <a:rPr lang="es-ES" sz="2800" b="1" dirty="0">
                <a:latin typeface="Arial" panose="020B0604020202020204" pitchFamily="34" charset="0"/>
                <a:cs typeface="Arial" panose="020B0604020202020204" pitchFamily="34" charset="0"/>
              </a:rPr>
              <a:t>IMPLEMENTACIÓN</a:t>
            </a:r>
          </a:p>
        </p:txBody>
      </p:sp>
      <p:sp>
        <p:nvSpPr>
          <p:cNvPr id="3" name="Marcador de contenido 2">
            <a:extLst>
              <a:ext uri="{FF2B5EF4-FFF2-40B4-BE49-F238E27FC236}">
                <a16:creationId xmlns:a16="http://schemas.microsoft.com/office/drawing/2014/main" id="{AEEFF3E9-3328-E6E9-FDB9-797E7C75644A}"/>
              </a:ext>
            </a:extLst>
          </p:cNvPr>
          <p:cNvSpPr>
            <a:spLocks noGrp="1"/>
          </p:cNvSpPr>
          <p:nvPr>
            <p:ph idx="1"/>
          </p:nvPr>
        </p:nvSpPr>
        <p:spPr>
          <a:xfrm>
            <a:off x="179512" y="705232"/>
            <a:ext cx="8712968" cy="5676096"/>
          </a:xfrm>
        </p:spPr>
        <p:txBody>
          <a:bodyPr/>
          <a:lstStyle/>
          <a:p>
            <a:pPr marL="313055" algn="just">
              <a:lnSpc>
                <a:spcPct val="100000"/>
              </a:lnSpc>
              <a:spcBef>
                <a:spcPts val="805"/>
              </a:spcBef>
              <a:spcAft>
                <a:spcPts val="0"/>
              </a:spcAft>
            </a:pPr>
            <a:r>
              <a:rPr lang="es-ES" sz="2000" dirty="0">
                <a:effectLst/>
                <a:latin typeface="Arial" panose="020B0604020202020204" pitchFamily="34" charset="0"/>
                <a:ea typeface="Times New Roman" panose="02020603050405020304" pitchFamily="18" charset="0"/>
                <a:cs typeface="Arial" panose="020B0604020202020204" pitchFamily="34" charset="0"/>
              </a:rPr>
              <a:t>Se</a:t>
            </a:r>
            <a:r>
              <a:rPr lang="es-ES" sz="2000" spc="1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utilizó</a:t>
            </a:r>
            <a:r>
              <a:rPr lang="es-ES" sz="2000" spc="2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Python</a:t>
            </a:r>
            <a:r>
              <a:rPr lang="es-ES" sz="2000" spc="2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como</a:t>
            </a:r>
            <a:r>
              <a:rPr lang="es-ES" sz="2000" spc="2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lenguaje</a:t>
            </a:r>
            <a:r>
              <a:rPr lang="es-ES" sz="2000" spc="2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de</a:t>
            </a:r>
            <a:r>
              <a:rPr lang="es-ES" sz="2000" spc="2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implementación,</a:t>
            </a:r>
            <a:r>
              <a:rPr lang="es-ES" sz="2000" spc="2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por</a:t>
            </a:r>
            <a:r>
              <a:rPr lang="es-ES" sz="2000" spc="2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las</a:t>
            </a:r>
            <a:r>
              <a:rPr lang="es-ES" sz="2000" spc="2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siguientes</a:t>
            </a:r>
            <a:r>
              <a:rPr lang="es-ES" sz="2000" spc="20" dirty="0">
                <a:effectLst/>
                <a:latin typeface="Arial" panose="020B0604020202020204" pitchFamily="34" charset="0"/>
                <a:ea typeface="Times New Roman" panose="02020603050405020304" pitchFamily="18" charset="0"/>
                <a:cs typeface="Arial" panose="020B0604020202020204" pitchFamily="34" charset="0"/>
              </a:rPr>
              <a:t> </a:t>
            </a:r>
            <a:r>
              <a:rPr lang="es-ES" sz="2000" spc="-10" dirty="0">
                <a:effectLst/>
                <a:latin typeface="Arial" panose="020B0604020202020204" pitchFamily="34" charset="0"/>
                <a:ea typeface="Times New Roman" panose="02020603050405020304" pitchFamily="18" charset="0"/>
                <a:cs typeface="Arial" panose="020B0604020202020204" pitchFamily="34" charset="0"/>
              </a:rPr>
              <a:t>razones:</a:t>
            </a:r>
            <a:endParaRPr lang="es-MX" sz="2000" dirty="0">
              <a:effectLst/>
              <a:latin typeface="Arial" panose="020B0604020202020204" pitchFamily="34" charset="0"/>
              <a:ea typeface="Times New Roman" panose="02020603050405020304" pitchFamily="18" charset="0"/>
              <a:cs typeface="Arial" panose="020B0604020202020204" pitchFamily="34" charset="0"/>
            </a:endParaRPr>
          </a:p>
          <a:p>
            <a:pPr marL="342900" marR="539115" lvl="0" indent="-342900" algn="just">
              <a:lnSpc>
                <a:spcPct val="100000"/>
              </a:lnSpc>
              <a:spcBef>
                <a:spcPts val="1175"/>
              </a:spcBef>
              <a:spcAft>
                <a:spcPts val="0"/>
              </a:spcAft>
              <a:buSzPts val="1200"/>
              <a:buFont typeface="Times New Roman" panose="02020603050405020304" pitchFamily="18" charset="0"/>
              <a:buAutoNum type="arabicPeriod"/>
              <a:tabLst>
                <a:tab pos="461645" algn="l"/>
              </a:tabLst>
            </a:pPr>
            <a:r>
              <a:rPr lang="es-ES" sz="2000" spc="0" dirty="0">
                <a:effectLst/>
                <a:latin typeface="Arial" panose="020B0604020202020204" pitchFamily="34" charset="0"/>
                <a:ea typeface="Times New Roman" panose="02020603050405020304" pitchFamily="18" charset="0"/>
                <a:cs typeface="Arial" panose="020B0604020202020204" pitchFamily="34" charset="0"/>
              </a:rPr>
              <a:t>Ecosistema</a:t>
            </a:r>
            <a:r>
              <a:rPr lang="es-ES" sz="2000" spc="200" dirty="0">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cientí</a:t>
            </a:r>
            <a:r>
              <a:rPr lang="es-ES" sz="2000" spc="200" dirty="0">
                <a:effectLst/>
                <a:latin typeface="Arial" panose="020B0604020202020204" pitchFamily="34" charset="0"/>
                <a:ea typeface="Times New Roman" panose="02020603050405020304" pitchFamily="18" charset="0"/>
                <a:cs typeface="Arial" panose="020B0604020202020204" pitchFamily="34" charset="0"/>
              </a:rPr>
              <a:t>fi</a:t>
            </a:r>
            <a:r>
              <a:rPr lang="es-ES" sz="2000" spc="0" dirty="0">
                <a:effectLst/>
                <a:latin typeface="Arial" panose="020B0604020202020204" pitchFamily="34" charset="0"/>
                <a:ea typeface="Times New Roman" panose="02020603050405020304" pitchFamily="18" charset="0"/>
                <a:cs typeface="Arial" panose="020B0604020202020204" pitchFamily="34" charset="0"/>
              </a:rPr>
              <a:t>co</a:t>
            </a:r>
            <a:r>
              <a:rPr lang="es-ES" sz="2000" spc="20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y</a:t>
            </a:r>
            <a:r>
              <a:rPr lang="es-ES" sz="2000" spc="20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numérico</a:t>
            </a:r>
            <a:r>
              <a:rPr lang="es-ES" sz="2000" spc="20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maduro:</a:t>
            </a:r>
            <a:r>
              <a:rPr lang="es-ES" sz="2000" spc="20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Python</a:t>
            </a:r>
            <a:r>
              <a:rPr lang="es-ES" sz="2000" spc="20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cuenta</a:t>
            </a:r>
            <a:r>
              <a:rPr lang="es-ES" sz="2000" spc="20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con</a:t>
            </a:r>
            <a:r>
              <a:rPr lang="es-ES" sz="2000" spc="20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un</a:t>
            </a:r>
            <a:r>
              <a:rPr lang="es-ES" sz="2000" spc="20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soporte</a:t>
            </a:r>
            <a:r>
              <a:rPr lang="es-ES" sz="2000" spc="20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extenso y estandarizado para cómputo numérico y aprendizaje automático (</a:t>
            </a:r>
            <a:r>
              <a:rPr lang="es-ES" sz="2000" spc="0" dirty="0" err="1">
                <a:effectLst/>
                <a:latin typeface="Arial" panose="020B0604020202020204" pitchFamily="34" charset="0"/>
                <a:ea typeface="Times New Roman" panose="02020603050405020304" pitchFamily="18" charset="0"/>
                <a:cs typeface="Arial" panose="020B0604020202020204" pitchFamily="34" charset="0"/>
              </a:rPr>
              <a:t>NumPy</a:t>
            </a:r>
            <a:r>
              <a:rPr lang="es-ES" sz="2000" spc="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err="1">
                <a:effectLst/>
                <a:latin typeface="Arial" panose="020B0604020202020204" pitchFamily="34" charset="0"/>
                <a:ea typeface="Times New Roman" panose="02020603050405020304" pitchFamily="18" charset="0"/>
                <a:cs typeface="Arial" panose="020B0604020202020204" pitchFamily="34" charset="0"/>
              </a:rPr>
              <a:t>PyTorch</a:t>
            </a:r>
            <a:r>
              <a:rPr lang="es-ES" sz="2000" spc="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err="1">
                <a:effectLst/>
                <a:latin typeface="Arial" panose="020B0604020202020204" pitchFamily="34" charset="0"/>
                <a:ea typeface="Times New Roman" panose="02020603050405020304" pitchFamily="18" charset="0"/>
                <a:cs typeface="Arial" panose="020B0604020202020204" pitchFamily="34" charset="0"/>
              </a:rPr>
              <a:t>SciPy</a:t>
            </a:r>
            <a:r>
              <a:rPr lang="es-ES" sz="2000" spc="0" dirty="0">
                <a:effectLst/>
                <a:latin typeface="Arial" panose="020B0604020202020204" pitchFamily="34" charset="0"/>
                <a:ea typeface="Times New Roman" panose="02020603050405020304" pitchFamily="18" charset="0"/>
                <a:cs typeface="Arial" panose="020B0604020202020204" pitchFamily="34" charset="0"/>
              </a:rPr>
              <a:t>), lo cual evita tener que implementar desde cero operaciones de</a:t>
            </a:r>
            <a:r>
              <a:rPr lang="es-ES" sz="2000" spc="40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álgebra lineal ya optimizadas y verificadas.</a:t>
            </a:r>
            <a:endParaRPr lang="es-MX" sz="2000" spc="0" dirty="0">
              <a:effectLst/>
              <a:latin typeface="Arial" panose="020B0604020202020204" pitchFamily="34" charset="0"/>
              <a:ea typeface="Times New Roman" panose="02020603050405020304" pitchFamily="18" charset="0"/>
              <a:cs typeface="Arial" panose="020B0604020202020204" pitchFamily="34" charset="0"/>
            </a:endParaRPr>
          </a:p>
          <a:p>
            <a:pPr marL="342900" lvl="0" indent="-342900" algn="just">
              <a:lnSpc>
                <a:spcPct val="100000"/>
              </a:lnSpc>
              <a:spcBef>
                <a:spcPts val="880"/>
              </a:spcBef>
              <a:spcAft>
                <a:spcPts val="0"/>
              </a:spcAft>
              <a:buSzPts val="1200"/>
              <a:buFont typeface="Times New Roman" panose="02020603050405020304" pitchFamily="18" charset="0"/>
              <a:buAutoNum type="arabicPeriod"/>
              <a:tabLst>
                <a:tab pos="461645" algn="l"/>
              </a:tabLst>
            </a:pPr>
            <a:r>
              <a:rPr lang="es-ES" sz="2000" spc="0" dirty="0">
                <a:effectLst/>
                <a:latin typeface="Arial" panose="020B0604020202020204" pitchFamily="34" charset="0"/>
                <a:ea typeface="Times New Roman" panose="02020603050405020304" pitchFamily="18" charset="0"/>
                <a:cs typeface="Arial" panose="020B0604020202020204" pitchFamily="34" charset="0"/>
              </a:rPr>
              <a:t>Sintaxis</a:t>
            </a:r>
            <a:r>
              <a:rPr lang="es-ES" sz="2000" spc="55"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concisa</a:t>
            </a:r>
            <a:r>
              <a:rPr lang="es-ES" sz="2000" spc="6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para</a:t>
            </a:r>
            <a:r>
              <a:rPr lang="es-ES" sz="2000" spc="6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prototipado:</a:t>
            </a:r>
            <a:r>
              <a:rPr lang="es-ES" sz="2000" spc="35"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la</a:t>
            </a:r>
            <a:r>
              <a:rPr lang="es-ES" sz="2000" spc="4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naturaleza</a:t>
            </a:r>
            <a:r>
              <a:rPr lang="es-ES" sz="2000" spc="4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experimental</a:t>
            </a:r>
            <a:r>
              <a:rPr lang="es-ES" sz="2000" spc="35"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de</a:t>
            </a:r>
            <a:r>
              <a:rPr lang="es-ES" sz="2000" spc="4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este</a:t>
            </a:r>
            <a:r>
              <a:rPr lang="es-ES" sz="2000" spc="40" dirty="0">
                <a:effectLst/>
                <a:latin typeface="Arial" panose="020B0604020202020204" pitchFamily="34" charset="0"/>
                <a:ea typeface="Times New Roman" panose="02020603050405020304" pitchFamily="18" charset="0"/>
                <a:cs typeface="Arial" panose="020B0604020202020204" pitchFamily="34" charset="0"/>
              </a:rPr>
              <a:t> </a:t>
            </a:r>
            <a:r>
              <a:rPr lang="es-ES" sz="2000" spc="-10" dirty="0">
                <a:effectLst/>
                <a:latin typeface="Arial" panose="020B0604020202020204" pitchFamily="34" charset="0"/>
                <a:ea typeface="Times New Roman" panose="02020603050405020304" pitchFamily="18" charset="0"/>
                <a:cs typeface="Arial" panose="020B0604020202020204" pitchFamily="34" charset="0"/>
              </a:rPr>
              <a:t>proyecto</a:t>
            </a:r>
            <a:r>
              <a:rPr lang="es-ES" sz="2000" spc="40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que requirió iterar varias veces sobre la arquitectura, la función de pérdida y la lógica de decisión del sistema híbrido</a:t>
            </a:r>
            <a:r>
              <a:rPr lang="es-ES" sz="2000" spc="40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se beneficia de un lenguaje de alto nivel donde los cambios se implementan y prueban rápidamente.</a:t>
            </a:r>
            <a:endParaRPr lang="es-MX" sz="2000" dirty="0">
              <a:effectLst/>
              <a:latin typeface="Arial" panose="020B0604020202020204" pitchFamily="34" charset="0"/>
              <a:ea typeface="Times New Roman" panose="02020603050405020304" pitchFamily="18" charset="0"/>
              <a:cs typeface="Arial" panose="020B0604020202020204" pitchFamily="34" charset="0"/>
            </a:endParaRPr>
          </a:p>
          <a:p>
            <a:pPr marL="342900" marR="539115" lvl="0" indent="-342900" algn="just">
              <a:lnSpc>
                <a:spcPct val="100000"/>
              </a:lnSpc>
              <a:spcBef>
                <a:spcPts val="890"/>
              </a:spcBef>
              <a:spcAft>
                <a:spcPts val="0"/>
              </a:spcAft>
              <a:buSzPts val="1200"/>
              <a:buFont typeface="Times New Roman" panose="02020603050405020304" pitchFamily="18" charset="0"/>
              <a:buAutoNum type="arabicPeriod"/>
              <a:tabLst>
                <a:tab pos="461645" algn="l"/>
              </a:tabLst>
            </a:pPr>
            <a:r>
              <a:rPr lang="es-ES" sz="2000" spc="0" dirty="0">
                <a:effectLst/>
                <a:latin typeface="Arial" panose="020B0604020202020204" pitchFamily="34" charset="0"/>
                <a:ea typeface="Times New Roman" panose="02020603050405020304" pitchFamily="18" charset="0"/>
                <a:cs typeface="Arial" panose="020B0604020202020204" pitchFamily="34" charset="0"/>
              </a:rPr>
              <a:t>Estándar de facto en la comunidad de aprendizaje automático: la mayoría </a:t>
            </a:r>
            <a:r>
              <a:rPr lang="es-ES" sz="2000" spc="-10" dirty="0">
                <a:effectLst/>
                <a:latin typeface="Arial" panose="020B0604020202020204" pitchFamily="34" charset="0"/>
                <a:ea typeface="Times New Roman" panose="02020603050405020304" pitchFamily="18" charset="0"/>
                <a:cs typeface="Arial" panose="020B0604020202020204" pitchFamily="34" charset="0"/>
              </a:rPr>
              <a:t>de</a:t>
            </a:r>
            <a:r>
              <a:rPr lang="es-ES" sz="2000" spc="-55" dirty="0">
                <a:effectLst/>
                <a:latin typeface="Arial" panose="020B0604020202020204" pitchFamily="34" charset="0"/>
                <a:ea typeface="Times New Roman" panose="02020603050405020304" pitchFamily="18" charset="0"/>
                <a:cs typeface="Arial" panose="020B0604020202020204" pitchFamily="34" charset="0"/>
              </a:rPr>
              <a:t> </a:t>
            </a:r>
            <a:r>
              <a:rPr lang="es-ES" sz="2000" spc="-10" dirty="0">
                <a:effectLst/>
                <a:latin typeface="Arial" panose="020B0604020202020204" pitchFamily="34" charset="0"/>
                <a:ea typeface="Times New Roman" panose="02020603050405020304" pitchFamily="18" charset="0"/>
                <a:cs typeface="Arial" panose="020B0604020202020204" pitchFamily="34" charset="0"/>
              </a:rPr>
              <a:t>los</a:t>
            </a:r>
            <a:r>
              <a:rPr lang="es-ES" sz="2000" spc="-55" dirty="0">
                <a:effectLst/>
                <a:latin typeface="Arial" panose="020B0604020202020204" pitchFamily="34" charset="0"/>
                <a:ea typeface="Times New Roman" panose="02020603050405020304" pitchFamily="18" charset="0"/>
                <a:cs typeface="Arial" panose="020B0604020202020204" pitchFamily="34" charset="0"/>
              </a:rPr>
              <a:t> </a:t>
            </a:r>
            <a:r>
              <a:rPr lang="es-ES" sz="2000" spc="-10" dirty="0" err="1">
                <a:effectLst/>
                <a:latin typeface="Arial" panose="020B0604020202020204" pitchFamily="34" charset="0"/>
                <a:ea typeface="Times New Roman" panose="02020603050405020304" pitchFamily="18" charset="0"/>
                <a:cs typeface="Arial" panose="020B0604020202020204" pitchFamily="34" charset="0"/>
              </a:rPr>
              <a:t>frameworks</a:t>
            </a:r>
            <a:r>
              <a:rPr lang="es-ES" sz="2000" spc="60" dirty="0">
                <a:effectLst/>
                <a:latin typeface="Arial" panose="020B0604020202020204" pitchFamily="34" charset="0"/>
                <a:ea typeface="Times New Roman" panose="02020603050405020304" pitchFamily="18" charset="0"/>
                <a:cs typeface="Arial" panose="020B0604020202020204" pitchFamily="34" charset="0"/>
              </a:rPr>
              <a:t> </a:t>
            </a:r>
            <a:r>
              <a:rPr lang="es-ES" sz="2000" spc="-10" dirty="0">
                <a:effectLst/>
                <a:latin typeface="Arial" panose="020B0604020202020204" pitchFamily="34" charset="0"/>
                <a:ea typeface="Times New Roman" panose="02020603050405020304" pitchFamily="18" charset="0"/>
                <a:cs typeface="Arial" panose="020B0604020202020204" pitchFamily="34" charset="0"/>
              </a:rPr>
              <a:t>de</a:t>
            </a:r>
            <a:r>
              <a:rPr lang="es-ES" sz="2000" spc="-55" dirty="0">
                <a:effectLst/>
                <a:latin typeface="Arial" panose="020B0604020202020204" pitchFamily="34" charset="0"/>
                <a:ea typeface="Times New Roman" panose="02020603050405020304" pitchFamily="18" charset="0"/>
                <a:cs typeface="Arial" panose="020B0604020202020204" pitchFamily="34" charset="0"/>
              </a:rPr>
              <a:t> </a:t>
            </a:r>
            <a:r>
              <a:rPr lang="es-ES" sz="2000" spc="-10" dirty="0">
                <a:effectLst/>
                <a:latin typeface="Arial" panose="020B0604020202020204" pitchFamily="34" charset="0"/>
                <a:ea typeface="Times New Roman" panose="02020603050405020304" pitchFamily="18" charset="0"/>
                <a:cs typeface="Arial" panose="020B0604020202020204" pitchFamily="34" charset="0"/>
              </a:rPr>
              <a:t>redes</a:t>
            </a:r>
            <a:r>
              <a:rPr lang="es-ES" sz="2000" spc="-55" dirty="0">
                <a:effectLst/>
                <a:latin typeface="Arial" panose="020B0604020202020204" pitchFamily="34" charset="0"/>
                <a:ea typeface="Times New Roman" panose="02020603050405020304" pitchFamily="18" charset="0"/>
                <a:cs typeface="Arial" panose="020B0604020202020204" pitchFamily="34" charset="0"/>
              </a:rPr>
              <a:t> </a:t>
            </a:r>
            <a:r>
              <a:rPr lang="es-ES" sz="2000" spc="-10" dirty="0">
                <a:effectLst/>
                <a:latin typeface="Arial" panose="020B0604020202020204" pitchFamily="34" charset="0"/>
                <a:ea typeface="Times New Roman" panose="02020603050405020304" pitchFamily="18" charset="0"/>
                <a:cs typeface="Arial" panose="020B0604020202020204" pitchFamily="34" charset="0"/>
              </a:rPr>
              <a:t>neuronales</a:t>
            </a:r>
            <a:r>
              <a:rPr lang="es-ES" sz="2000" spc="-55" dirty="0">
                <a:effectLst/>
                <a:latin typeface="Arial" panose="020B0604020202020204" pitchFamily="34" charset="0"/>
                <a:ea typeface="Times New Roman" panose="02020603050405020304" pitchFamily="18" charset="0"/>
                <a:cs typeface="Arial" panose="020B0604020202020204" pitchFamily="34" charset="0"/>
              </a:rPr>
              <a:t> </a:t>
            </a:r>
            <a:r>
              <a:rPr lang="es-ES" sz="2000" spc="-10" dirty="0">
                <a:effectLst/>
                <a:latin typeface="Arial" panose="020B0604020202020204" pitchFamily="34" charset="0"/>
                <a:ea typeface="Times New Roman" panose="02020603050405020304" pitchFamily="18" charset="0"/>
                <a:cs typeface="Arial" panose="020B0604020202020204" pitchFamily="34" charset="0"/>
              </a:rPr>
              <a:t>(</a:t>
            </a:r>
            <a:r>
              <a:rPr lang="es-ES" sz="2000" spc="-10" dirty="0" err="1">
                <a:effectLst/>
                <a:latin typeface="Arial" panose="020B0604020202020204" pitchFamily="34" charset="0"/>
                <a:ea typeface="Times New Roman" panose="02020603050405020304" pitchFamily="18" charset="0"/>
                <a:cs typeface="Arial" panose="020B0604020202020204" pitchFamily="34" charset="0"/>
              </a:rPr>
              <a:t>PyTorch</a:t>
            </a:r>
            <a:r>
              <a:rPr lang="es-ES" sz="2000" spc="-10" dirty="0">
                <a:effectLst/>
                <a:latin typeface="Arial" panose="020B0604020202020204" pitchFamily="34" charset="0"/>
                <a:ea typeface="Times New Roman" panose="02020603050405020304" pitchFamily="18" charset="0"/>
                <a:cs typeface="Arial" panose="020B0604020202020204" pitchFamily="34" charset="0"/>
              </a:rPr>
              <a:t>,</a:t>
            </a:r>
            <a:r>
              <a:rPr lang="es-ES" sz="2000" spc="-55" dirty="0">
                <a:effectLst/>
                <a:latin typeface="Arial" panose="020B0604020202020204" pitchFamily="34" charset="0"/>
                <a:ea typeface="Times New Roman" panose="02020603050405020304" pitchFamily="18" charset="0"/>
                <a:cs typeface="Arial" panose="020B0604020202020204" pitchFamily="34" charset="0"/>
              </a:rPr>
              <a:t> </a:t>
            </a:r>
            <a:r>
              <a:rPr lang="es-ES" sz="2000" spc="-10" dirty="0" err="1">
                <a:effectLst/>
                <a:latin typeface="Arial" panose="020B0604020202020204" pitchFamily="34" charset="0"/>
                <a:ea typeface="Times New Roman" panose="02020603050405020304" pitchFamily="18" charset="0"/>
                <a:cs typeface="Arial" panose="020B0604020202020204" pitchFamily="34" charset="0"/>
              </a:rPr>
              <a:t>TensorFlow</a:t>
            </a:r>
            <a:r>
              <a:rPr lang="es-ES" sz="2000" spc="-10" dirty="0">
                <a:effectLst/>
                <a:latin typeface="Arial" panose="020B0604020202020204" pitchFamily="34" charset="0"/>
                <a:ea typeface="Times New Roman" panose="02020603050405020304" pitchFamily="18" charset="0"/>
                <a:cs typeface="Arial" panose="020B0604020202020204" pitchFamily="34" charset="0"/>
              </a:rPr>
              <a:t>,</a:t>
            </a:r>
            <a:r>
              <a:rPr lang="es-ES" sz="2000" spc="-55" dirty="0">
                <a:effectLst/>
                <a:latin typeface="Arial" panose="020B0604020202020204" pitchFamily="34" charset="0"/>
                <a:ea typeface="Times New Roman" panose="02020603050405020304" pitchFamily="18" charset="0"/>
                <a:cs typeface="Arial" panose="020B0604020202020204" pitchFamily="34" charset="0"/>
              </a:rPr>
              <a:t> </a:t>
            </a:r>
            <a:r>
              <a:rPr lang="es-ES" sz="2000" spc="-10" dirty="0">
                <a:effectLst/>
                <a:latin typeface="Arial" panose="020B0604020202020204" pitchFamily="34" charset="0"/>
                <a:ea typeface="Times New Roman" panose="02020603050405020304" pitchFamily="18" charset="0"/>
                <a:cs typeface="Arial" panose="020B0604020202020204" pitchFamily="34" charset="0"/>
              </a:rPr>
              <a:t>JAX)</a:t>
            </a:r>
            <a:r>
              <a:rPr lang="es-ES" sz="2000" spc="-55" dirty="0">
                <a:effectLst/>
                <a:latin typeface="Arial" panose="020B0604020202020204" pitchFamily="34" charset="0"/>
                <a:ea typeface="Times New Roman" panose="02020603050405020304" pitchFamily="18" charset="0"/>
                <a:cs typeface="Arial" panose="020B0604020202020204" pitchFamily="34" charset="0"/>
              </a:rPr>
              <a:t> </a:t>
            </a:r>
            <a:r>
              <a:rPr lang="es-ES" sz="2000" spc="-10" dirty="0">
                <a:effectLst/>
                <a:latin typeface="Arial" panose="020B0604020202020204" pitchFamily="34" charset="0"/>
                <a:ea typeface="Times New Roman" panose="02020603050405020304" pitchFamily="18" charset="0"/>
                <a:cs typeface="Arial" panose="020B0604020202020204" pitchFamily="34" charset="0"/>
              </a:rPr>
              <a:t>están</a:t>
            </a:r>
            <a:r>
              <a:rPr lang="es-ES" sz="2000" spc="-55" dirty="0">
                <a:effectLst/>
                <a:latin typeface="Arial" panose="020B0604020202020204" pitchFamily="34" charset="0"/>
                <a:ea typeface="Times New Roman" panose="02020603050405020304" pitchFamily="18" charset="0"/>
                <a:cs typeface="Arial" panose="020B0604020202020204" pitchFamily="34" charset="0"/>
              </a:rPr>
              <a:t> </a:t>
            </a:r>
            <a:r>
              <a:rPr lang="es-ES" sz="2000" spc="-10" dirty="0">
                <a:effectLst/>
                <a:latin typeface="Arial" panose="020B0604020202020204" pitchFamily="34" charset="0"/>
                <a:ea typeface="Times New Roman" panose="02020603050405020304" pitchFamily="18" charset="0"/>
                <a:cs typeface="Arial" panose="020B0604020202020204" pitchFamily="34" charset="0"/>
              </a:rPr>
              <a:t>diseñados </a:t>
            </a:r>
            <a:r>
              <a:rPr lang="es-ES" sz="2000" spc="0" dirty="0">
                <a:effectLst/>
                <a:latin typeface="Arial" panose="020B0604020202020204" pitchFamily="34" charset="0"/>
                <a:ea typeface="Times New Roman" panose="02020603050405020304" pitchFamily="18" charset="0"/>
                <a:cs typeface="Arial" panose="020B0604020202020204" pitchFamily="34" charset="0"/>
              </a:rPr>
              <a:t>primariamente para Python, lo que garantiza documentación, soporte y ejemplos </a:t>
            </a:r>
            <a:r>
              <a:rPr lang="es-ES" sz="2000" spc="-10" dirty="0">
                <a:effectLst/>
                <a:latin typeface="Arial" panose="020B0604020202020204" pitchFamily="34" charset="0"/>
                <a:ea typeface="Times New Roman" panose="02020603050405020304" pitchFamily="18" charset="0"/>
                <a:cs typeface="Arial" panose="020B0604020202020204" pitchFamily="34" charset="0"/>
              </a:rPr>
              <a:t>abundantes.</a:t>
            </a:r>
            <a:endParaRPr lang="es-MX" sz="2000" spc="0" dirty="0">
              <a:effectLst/>
              <a:latin typeface="Arial" panose="020B0604020202020204" pitchFamily="34" charset="0"/>
              <a:ea typeface="Times New Roman" panose="02020603050405020304" pitchFamily="18" charset="0"/>
              <a:cs typeface="Arial" panose="020B0604020202020204" pitchFamily="34" charset="0"/>
            </a:endParaRPr>
          </a:p>
          <a:p>
            <a:endParaRPr lang="es-ES" dirty="0"/>
          </a:p>
        </p:txBody>
      </p:sp>
    </p:spTree>
    <p:extLst>
      <p:ext uri="{BB962C8B-B14F-4D97-AF65-F5344CB8AC3E}">
        <p14:creationId xmlns:p14="http://schemas.microsoft.com/office/powerpoint/2010/main" val="428524517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134CB5-3204-3536-09B9-411079444786}"/>
              </a:ext>
            </a:extLst>
          </p:cNvPr>
          <p:cNvSpPr>
            <a:spLocks noGrp="1"/>
          </p:cNvSpPr>
          <p:nvPr>
            <p:ph type="title"/>
          </p:nvPr>
        </p:nvSpPr>
        <p:spPr>
          <a:xfrm>
            <a:off x="548770" y="188641"/>
            <a:ext cx="2738307" cy="432048"/>
          </a:xfrm>
        </p:spPr>
        <p:txBody>
          <a:bodyPr/>
          <a:lstStyle/>
          <a:p>
            <a:r>
              <a:rPr lang="es-ES" sz="2800" b="1" dirty="0">
                <a:latin typeface="Arial" panose="020B0604020202020204" pitchFamily="34" charset="0"/>
                <a:cs typeface="Arial" panose="020B0604020202020204" pitchFamily="34" charset="0"/>
              </a:rPr>
              <a:t>Framework</a:t>
            </a:r>
          </a:p>
        </p:txBody>
      </p:sp>
      <p:sp>
        <p:nvSpPr>
          <p:cNvPr id="3" name="Marcador de contenido 2">
            <a:extLst>
              <a:ext uri="{FF2B5EF4-FFF2-40B4-BE49-F238E27FC236}">
                <a16:creationId xmlns:a16="http://schemas.microsoft.com/office/drawing/2014/main" id="{BC16553F-AD9F-28BD-0FFE-C9707F699A76}"/>
              </a:ext>
            </a:extLst>
          </p:cNvPr>
          <p:cNvSpPr>
            <a:spLocks noGrp="1"/>
          </p:cNvSpPr>
          <p:nvPr>
            <p:ph idx="1"/>
          </p:nvPr>
        </p:nvSpPr>
        <p:spPr>
          <a:xfrm>
            <a:off x="179512" y="620688"/>
            <a:ext cx="8712968" cy="5832648"/>
          </a:xfrm>
        </p:spPr>
        <p:txBody>
          <a:bodyPr/>
          <a:lstStyle/>
          <a:p>
            <a:pPr marL="90170" marR="539115" indent="0" algn="just">
              <a:lnSpc>
                <a:spcPct val="150000"/>
              </a:lnSpc>
              <a:spcBef>
                <a:spcPts val="785"/>
              </a:spcBef>
              <a:spcAft>
                <a:spcPts val="0"/>
              </a:spcAft>
              <a:buNone/>
            </a:pPr>
            <a:r>
              <a:rPr lang="es-ES" sz="1800" dirty="0">
                <a:effectLst/>
                <a:latin typeface="Arial" panose="020B0604020202020204" pitchFamily="34" charset="0"/>
                <a:ea typeface="Times New Roman" panose="02020603050405020304" pitchFamily="18" charset="0"/>
                <a:cs typeface="Arial" panose="020B0604020202020204" pitchFamily="34" charset="0"/>
              </a:rPr>
              <a:t>Dentro</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del</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ecosistema</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de</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Python,</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se</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seleccionó</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err="1">
                <a:effectLst/>
                <a:latin typeface="Arial" panose="020B0604020202020204" pitchFamily="34" charset="0"/>
                <a:ea typeface="Times New Roman" panose="02020603050405020304" pitchFamily="18" charset="0"/>
                <a:cs typeface="Arial" panose="020B0604020202020204" pitchFamily="34" charset="0"/>
              </a:rPr>
              <a:t>PyTorch</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como</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err="1">
                <a:effectLst/>
                <a:latin typeface="Arial" panose="020B0604020202020204" pitchFamily="34" charset="0"/>
                <a:ea typeface="Times New Roman" panose="02020603050405020304" pitchFamily="18" charset="0"/>
                <a:cs typeface="Arial" panose="020B0604020202020204" pitchFamily="34" charset="0"/>
              </a:rPr>
              <a:t>framework</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principal, por</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las</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siguientes</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razones</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err="1">
                <a:effectLst/>
                <a:latin typeface="Arial" panose="020B0604020202020204" pitchFamily="34" charset="0"/>
                <a:ea typeface="Times New Roman" panose="02020603050405020304" pitchFamily="18" charset="0"/>
                <a:cs typeface="Arial" panose="020B0604020202020204" pitchFamily="34" charset="0"/>
              </a:rPr>
              <a:t>especí</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cas</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al</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dirty="0">
                <a:effectLst/>
                <a:latin typeface="Arial" panose="020B0604020202020204" pitchFamily="34" charset="0"/>
                <a:ea typeface="Times New Roman" panose="02020603050405020304" pitchFamily="18" charset="0"/>
                <a:cs typeface="Arial" panose="020B0604020202020204" pitchFamily="34" charset="0"/>
              </a:rPr>
              <a:t>proyecto:</a:t>
            </a:r>
            <a:endParaRPr lang="es-MX" sz="1800" dirty="0">
              <a:effectLst/>
              <a:latin typeface="Arial" panose="020B0604020202020204" pitchFamily="34" charset="0"/>
              <a:ea typeface="Times New Roman" panose="02020603050405020304" pitchFamily="18" charset="0"/>
              <a:cs typeface="Arial" panose="020B0604020202020204" pitchFamily="34" charset="0"/>
            </a:endParaRPr>
          </a:p>
          <a:p>
            <a:pPr marR="539115" algn="just">
              <a:lnSpc>
                <a:spcPct val="150000"/>
              </a:lnSpc>
              <a:spcBef>
                <a:spcPts val="1125"/>
              </a:spcBef>
              <a:spcAft>
                <a:spcPts val="0"/>
              </a:spcAft>
              <a:buSzPts val="1200"/>
              <a:tabLst>
                <a:tab pos="461645" algn="l"/>
              </a:tabLst>
            </a:pPr>
            <a:r>
              <a:rPr lang="es-ES" sz="1800" spc="0" dirty="0">
                <a:effectLst/>
                <a:latin typeface="Arial" panose="020B0604020202020204" pitchFamily="34" charset="0"/>
                <a:ea typeface="Times New Roman" panose="02020603050405020304" pitchFamily="18" charset="0"/>
                <a:cs typeface="Arial" panose="020B0604020202020204" pitchFamily="34" charset="0"/>
              </a:rPr>
              <a:t>Diferenciación</a:t>
            </a:r>
            <a:r>
              <a:rPr lang="es-ES" sz="1800" spc="-6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automática (</a:t>
            </a:r>
            <a:r>
              <a:rPr lang="es-ES" sz="1800" spc="0" dirty="0" err="1">
                <a:effectLst/>
                <a:latin typeface="Arial" panose="020B0604020202020204" pitchFamily="34" charset="0"/>
                <a:ea typeface="Times New Roman" panose="02020603050405020304" pitchFamily="18" charset="0"/>
                <a:cs typeface="Arial" panose="020B0604020202020204" pitchFamily="34" charset="0"/>
              </a:rPr>
              <a:t>autograd</a:t>
            </a:r>
            <a:r>
              <a:rPr lang="es-ES" sz="1800" spc="-8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a:t>
            </a:r>
            <a:r>
              <a:rPr lang="es-ES" sz="1800" spc="0" dirty="0" err="1">
                <a:effectLst/>
                <a:latin typeface="Arial" panose="020B0604020202020204" pitchFamily="34" charset="0"/>
                <a:ea typeface="Times New Roman" panose="02020603050405020304" pitchFamily="18" charset="0"/>
                <a:cs typeface="Arial" panose="020B0604020202020204" pitchFamily="34" charset="0"/>
              </a:rPr>
              <a:t>PyTorch</a:t>
            </a:r>
            <a:r>
              <a:rPr lang="es-ES" sz="1800" spc="0" dirty="0">
                <a:effectLst/>
                <a:latin typeface="Arial" panose="020B0604020202020204" pitchFamily="34" charset="0"/>
                <a:ea typeface="Times New Roman" panose="02020603050405020304" pitchFamily="18" charset="0"/>
                <a:cs typeface="Arial" panose="020B0604020202020204" pitchFamily="34" charset="0"/>
              </a:rPr>
              <a:t> calcula los gradientes automáticamente mediante </a:t>
            </a:r>
            <a:r>
              <a:rPr lang="es-ES" sz="1800" spc="0" dirty="0" err="1">
                <a:effectLst/>
                <a:latin typeface="Arial" panose="020B0604020202020204" pitchFamily="34" charset="0"/>
                <a:ea typeface="Times New Roman" panose="02020603050405020304" pitchFamily="18" charset="0"/>
                <a:cs typeface="Arial" panose="020B0604020202020204" pitchFamily="34" charset="0"/>
              </a:rPr>
              <a:t>backward</a:t>
            </a:r>
            <a:r>
              <a:rPr lang="es-ES" sz="1800" spc="0" dirty="0">
                <a:effectLst/>
                <a:latin typeface="Arial" panose="020B0604020202020204" pitchFamily="34" charset="0"/>
                <a:ea typeface="Times New Roman" panose="02020603050405020304" pitchFamily="18" charset="0"/>
                <a:cs typeface="Arial" panose="020B0604020202020204" pitchFamily="34" charset="0"/>
              </a:rPr>
              <a:t>(), construyendo un grafo computacional dinámico durante la ejecución, sin que sea necesario derivar manualmente estas ex</a:t>
            </a:r>
            <a:r>
              <a:rPr lang="es-ES" sz="1800" spc="-10" dirty="0">
                <a:effectLst/>
                <a:latin typeface="Arial" panose="020B0604020202020204" pitchFamily="34" charset="0"/>
                <a:ea typeface="Times New Roman" panose="02020603050405020304" pitchFamily="18" charset="0"/>
                <a:cs typeface="Arial" panose="020B0604020202020204" pitchFamily="34" charset="0"/>
              </a:rPr>
              <a:t>presiones.</a:t>
            </a:r>
            <a:endParaRPr lang="es-MX" sz="1800" spc="0" dirty="0">
              <a:effectLst/>
              <a:latin typeface="Arial" panose="020B0604020202020204" pitchFamily="34" charset="0"/>
              <a:ea typeface="Times New Roman" panose="02020603050405020304" pitchFamily="18" charset="0"/>
              <a:cs typeface="Arial" panose="020B0604020202020204" pitchFamily="34" charset="0"/>
            </a:endParaRPr>
          </a:p>
          <a:p>
            <a:pPr marR="539115" algn="just">
              <a:lnSpc>
                <a:spcPct val="150000"/>
              </a:lnSpc>
              <a:spcBef>
                <a:spcPts val="910"/>
              </a:spcBef>
              <a:spcAft>
                <a:spcPts val="0"/>
              </a:spcAft>
              <a:buSzPts val="1200"/>
              <a:tabLst>
                <a:tab pos="461645" algn="l"/>
              </a:tabLst>
            </a:pPr>
            <a:r>
              <a:rPr lang="es-ES" sz="1800" spc="0" dirty="0">
                <a:effectLst/>
                <a:latin typeface="Arial" panose="020B0604020202020204" pitchFamily="34" charset="0"/>
                <a:ea typeface="Times New Roman" panose="02020603050405020304" pitchFamily="18" charset="0"/>
                <a:cs typeface="Arial" panose="020B0604020202020204" pitchFamily="34" charset="0"/>
              </a:rPr>
              <a:t>Soporte</a:t>
            </a:r>
            <a:r>
              <a:rPr lang="es-ES" sz="1800" spc="-95"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err="1">
                <a:effectLst/>
                <a:latin typeface="Arial" panose="020B0604020202020204" pitchFamily="34" charset="0"/>
                <a:ea typeface="Times New Roman" panose="02020603050405020304" pitchFamily="18" charset="0"/>
                <a:cs typeface="Arial" panose="020B0604020202020204" pitchFamily="34" charset="0"/>
              </a:rPr>
              <a:t>uni</a:t>
            </a:r>
            <a:r>
              <a:rPr lang="es-ES" sz="1800" spc="-90" dirty="0" err="1">
                <a:latin typeface="Arial" panose="020B0604020202020204" pitchFamily="34" charset="0"/>
                <a:ea typeface="Times New Roman" panose="02020603050405020304" pitchFamily="18" charset="0"/>
                <a:cs typeface="Arial" panose="020B0604020202020204" pitchFamily="34" charset="0"/>
              </a:rPr>
              <a:t>f</a:t>
            </a:r>
            <a:r>
              <a:rPr lang="es-ES" sz="1800" spc="0" dirty="0" err="1">
                <a:effectLst/>
                <a:latin typeface="Arial" panose="020B0604020202020204" pitchFamily="34" charset="0"/>
                <a:ea typeface="Times New Roman" panose="02020603050405020304" pitchFamily="18" charset="0"/>
                <a:cs typeface="Arial" panose="020B0604020202020204" pitchFamily="34" charset="0"/>
              </a:rPr>
              <a:t>cado</a:t>
            </a:r>
            <a:r>
              <a:rPr lang="es-ES" sz="1800" spc="-95"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para</a:t>
            </a:r>
            <a:r>
              <a:rPr lang="es-ES" sz="1800" spc="-9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ambos</a:t>
            </a:r>
            <a:r>
              <a:rPr lang="es-ES" sz="1800" spc="-9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componentes</a:t>
            </a:r>
            <a:r>
              <a:rPr lang="es-ES" sz="1800" spc="-95"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del</a:t>
            </a:r>
            <a:r>
              <a:rPr lang="es-ES" sz="1800" spc="-9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sistema</a:t>
            </a:r>
            <a:r>
              <a:rPr lang="es-ES" sz="1800" spc="-9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híbrido:</a:t>
            </a:r>
            <a:r>
              <a:rPr lang="es-ES" sz="1800" spc="-85"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err="1">
                <a:effectLst/>
                <a:latin typeface="Arial" panose="020B0604020202020204" pitchFamily="34" charset="0"/>
                <a:ea typeface="Times New Roman" panose="02020603050405020304" pitchFamily="18" charset="0"/>
                <a:cs typeface="Arial" panose="020B0604020202020204" pitchFamily="34" charset="0"/>
              </a:rPr>
              <a:t>PyTorch</a:t>
            </a:r>
            <a:r>
              <a:rPr lang="es-ES" sz="1800" spc="0" dirty="0">
                <a:effectLst/>
                <a:latin typeface="Arial" panose="020B0604020202020204" pitchFamily="34" charset="0"/>
                <a:ea typeface="Times New Roman" panose="02020603050405020304" pitchFamily="18" charset="0"/>
                <a:cs typeface="Arial" panose="020B0604020202020204" pitchFamily="34" charset="0"/>
              </a:rPr>
              <a:t> no</a:t>
            </a:r>
            <a:r>
              <a:rPr lang="es-ES" sz="1800" spc="-85"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se</a:t>
            </a:r>
            <a:r>
              <a:rPr lang="es-ES" sz="1800" spc="-8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utilizó</a:t>
            </a:r>
            <a:r>
              <a:rPr lang="es-ES" sz="1800" spc="-85"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únicamente</a:t>
            </a:r>
            <a:r>
              <a:rPr lang="es-ES" sz="1800" spc="-8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para</a:t>
            </a:r>
            <a:r>
              <a:rPr lang="es-ES" sz="1800" spc="-85"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la</a:t>
            </a:r>
            <a:r>
              <a:rPr lang="es-ES" sz="1800" spc="-8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red</a:t>
            </a:r>
            <a:r>
              <a:rPr lang="es-ES" sz="1800" spc="-85"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neuronal.</a:t>
            </a:r>
            <a:r>
              <a:rPr lang="es-ES" sz="1800" spc="-8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El</a:t>
            </a:r>
            <a:r>
              <a:rPr lang="es-ES" sz="1800" spc="-85"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módulo</a:t>
            </a:r>
            <a:r>
              <a:rPr lang="es-ES" sz="1800" spc="-8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err="1">
                <a:effectLst/>
                <a:latin typeface="Arial" panose="020B0604020202020204" pitchFamily="34" charset="0"/>
                <a:ea typeface="Times New Roman" panose="02020603050405020304" pitchFamily="18" charset="0"/>
                <a:cs typeface="Arial" panose="020B0604020202020204" pitchFamily="34" charset="0"/>
              </a:rPr>
              <a:t>torch.linalg</a:t>
            </a:r>
            <a:r>
              <a:rPr lang="es-ES" sz="1800" spc="-155"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se</a:t>
            </a:r>
            <a:r>
              <a:rPr lang="es-ES" sz="1800" spc="-8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empleó también</a:t>
            </a:r>
            <a:r>
              <a:rPr lang="es-ES" sz="1800" spc="-85"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para</a:t>
            </a:r>
            <a:r>
              <a:rPr lang="es-ES" sz="1800" spc="-8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los</a:t>
            </a:r>
            <a:r>
              <a:rPr lang="es-ES" sz="1800" spc="-85"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cálculos</a:t>
            </a:r>
            <a:r>
              <a:rPr lang="es-ES" sz="1800" spc="-8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puramente</a:t>
            </a:r>
            <a:r>
              <a:rPr lang="es-ES" sz="1800" spc="-85"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algebraicos</a:t>
            </a:r>
            <a:r>
              <a:rPr lang="es-ES" sz="1800" spc="-8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del</a:t>
            </a:r>
            <a:r>
              <a:rPr lang="es-ES" sz="1800" spc="-85"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proyecto</a:t>
            </a:r>
            <a:r>
              <a:rPr lang="es-ES" sz="1800" spc="20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número</a:t>
            </a:r>
            <a:r>
              <a:rPr lang="es-ES" sz="1800" spc="-85"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de</a:t>
            </a:r>
            <a:r>
              <a:rPr lang="es-ES" sz="1800" spc="-8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condición</a:t>
            </a:r>
            <a:r>
              <a:rPr lang="es-ES" sz="1800" spc="-85"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a:t>
            </a:r>
            <a:r>
              <a:rPr lang="es-ES" sz="1800" spc="0" dirty="0" err="1">
                <a:effectLst/>
                <a:latin typeface="Arial" panose="020B0604020202020204" pitchFamily="34" charset="0"/>
                <a:ea typeface="Times New Roman" panose="02020603050405020304" pitchFamily="18" charset="0"/>
                <a:cs typeface="Arial" panose="020B0604020202020204" pitchFamily="34" charset="0"/>
              </a:rPr>
              <a:t>torch.linalg.cond</a:t>
            </a:r>
            <a:r>
              <a:rPr lang="es-ES" sz="1800" spc="0" dirty="0">
                <a:effectLst/>
                <a:latin typeface="Arial" panose="020B0604020202020204" pitchFamily="34" charset="0"/>
                <a:ea typeface="Times New Roman" panose="02020603050405020304" pitchFamily="18" charset="0"/>
                <a:cs typeface="Arial" panose="020B0604020202020204" pitchFamily="34" charset="0"/>
              </a:rPr>
              <a:t>),</a:t>
            </a:r>
            <a:r>
              <a:rPr lang="es-ES" sz="1800" spc="-8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normas</a:t>
            </a:r>
            <a:r>
              <a:rPr lang="es-ES" sz="1800" spc="-85"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matriciales</a:t>
            </a:r>
            <a:r>
              <a:rPr lang="es-ES" sz="1800" spc="-8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a:t>
            </a:r>
            <a:r>
              <a:rPr lang="es-ES" sz="1800" spc="0" dirty="0" err="1">
                <a:effectLst/>
                <a:latin typeface="Arial" panose="020B0604020202020204" pitchFamily="34" charset="0"/>
                <a:ea typeface="Times New Roman" panose="02020603050405020304" pitchFamily="18" charset="0"/>
                <a:cs typeface="Arial" panose="020B0604020202020204" pitchFamily="34" charset="0"/>
              </a:rPr>
              <a:t>torch.linalg.matrix_norm</a:t>
            </a:r>
            <a:r>
              <a:rPr lang="es-ES" sz="1800" spc="0" dirty="0">
                <a:effectLst/>
                <a:latin typeface="Arial" panose="020B0604020202020204" pitchFamily="34" charset="0"/>
                <a:ea typeface="Times New Roman" panose="02020603050405020304" pitchFamily="18" charset="0"/>
                <a:cs typeface="Arial" panose="020B0604020202020204" pitchFamily="34" charset="0"/>
              </a:rPr>
              <a:t>)</a:t>
            </a:r>
            <a:r>
              <a:rPr lang="es-ES" sz="1800" spc="-85"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para la</a:t>
            </a:r>
            <a:r>
              <a:rPr lang="es-ES" sz="1800" spc="-8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inicialización</a:t>
            </a:r>
            <a:r>
              <a:rPr lang="es-ES" sz="1800" spc="-8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segura,</a:t>
            </a:r>
            <a:r>
              <a:rPr lang="es-ES" sz="1800" spc="-8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y</a:t>
            </a:r>
            <a:r>
              <a:rPr lang="es-ES" sz="1800" spc="-8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la</a:t>
            </a:r>
            <a:r>
              <a:rPr lang="es-ES" sz="1800" spc="-8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inversa</a:t>
            </a:r>
            <a:r>
              <a:rPr lang="es-ES" sz="1800" spc="-8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de</a:t>
            </a:r>
            <a:r>
              <a:rPr lang="es-ES" sz="1800" spc="-8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referencia</a:t>
            </a:r>
            <a:r>
              <a:rPr lang="es-ES" sz="1800" spc="-8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a:t>
            </a:r>
            <a:r>
              <a:rPr lang="es-ES" sz="1800" spc="0" dirty="0" err="1">
                <a:effectLst/>
                <a:latin typeface="Arial" panose="020B0604020202020204" pitchFamily="34" charset="0"/>
                <a:ea typeface="Times New Roman" panose="02020603050405020304" pitchFamily="18" charset="0"/>
                <a:cs typeface="Arial" panose="020B0604020202020204" pitchFamily="34" charset="0"/>
              </a:rPr>
              <a:t>torch.inverse</a:t>
            </a:r>
            <a:r>
              <a:rPr lang="es-ES" sz="1800" spc="0" dirty="0">
                <a:effectLst/>
                <a:latin typeface="Arial" panose="020B0604020202020204" pitchFamily="34" charset="0"/>
                <a:ea typeface="Times New Roman" panose="02020603050405020304" pitchFamily="18" charset="0"/>
                <a:cs typeface="Arial" panose="020B0604020202020204" pitchFamily="34" charset="0"/>
              </a:rPr>
              <a:t>)</a:t>
            </a:r>
            <a:r>
              <a:rPr lang="es-ES" sz="1800" spc="-8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usada</a:t>
            </a:r>
            <a:r>
              <a:rPr lang="es-ES" sz="1800" spc="-8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para</a:t>
            </a:r>
            <a:r>
              <a:rPr lang="es-ES" sz="1800" spc="-8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validar</a:t>
            </a:r>
            <a:r>
              <a:rPr lang="es-ES" sz="1800" spc="-85"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los</a:t>
            </a:r>
            <a:r>
              <a:rPr lang="es-ES" sz="1800" spc="-80" dirty="0">
                <a:effectLst/>
                <a:latin typeface="Arial" panose="020B0604020202020204" pitchFamily="34" charset="0"/>
                <a:ea typeface="Times New Roman" panose="02020603050405020304" pitchFamily="18" charset="0"/>
                <a:cs typeface="Arial" panose="020B0604020202020204" pitchFamily="34" charset="0"/>
              </a:rPr>
              <a:t> </a:t>
            </a:r>
            <a:r>
              <a:rPr lang="es-ES" sz="1800" spc="0" dirty="0">
                <a:effectLst/>
                <a:latin typeface="Arial" panose="020B0604020202020204" pitchFamily="34" charset="0"/>
                <a:ea typeface="Times New Roman" panose="02020603050405020304" pitchFamily="18" charset="0"/>
                <a:cs typeface="Arial" panose="020B0604020202020204" pitchFamily="34" charset="0"/>
              </a:rPr>
              <a:t>resultados.</a:t>
            </a:r>
            <a:endParaRPr lang="es-MX" sz="1800" spc="0" dirty="0">
              <a:effectLst/>
              <a:latin typeface="Arial" panose="020B0604020202020204" pitchFamily="34" charset="0"/>
              <a:ea typeface="Times New Roman" panose="02020603050405020304" pitchFamily="18" charset="0"/>
              <a:cs typeface="Arial" panose="020B0604020202020204" pitchFamily="34" charset="0"/>
            </a:endParaRPr>
          </a:p>
          <a:p>
            <a:pPr marL="342900" marR="539115" lvl="0" indent="-342900" algn="just">
              <a:lnSpc>
                <a:spcPct val="150000"/>
              </a:lnSpc>
              <a:spcBef>
                <a:spcPts val="935"/>
              </a:spcBef>
              <a:spcAft>
                <a:spcPts val="0"/>
              </a:spcAft>
              <a:buSzPts val="1200"/>
              <a:buFont typeface="Times New Roman" panose="02020603050405020304" pitchFamily="18" charset="0"/>
              <a:buAutoNum type="arabicPeriod"/>
              <a:tabLst>
                <a:tab pos="461645" algn="l"/>
              </a:tabLst>
            </a:pPr>
            <a:endParaRPr lang="es-MX" sz="1800" spc="0" dirty="0">
              <a:effectLst/>
              <a:latin typeface="Arial" panose="020B0604020202020204" pitchFamily="34" charset="0"/>
              <a:ea typeface="Times New Roman" panose="02020603050405020304" pitchFamily="18" charset="0"/>
              <a:cs typeface="Arial" panose="020B0604020202020204" pitchFamily="34" charset="0"/>
            </a:endParaRPr>
          </a:p>
          <a:p>
            <a:endParaRPr lang="es-ES" dirty="0"/>
          </a:p>
        </p:txBody>
      </p:sp>
    </p:spTree>
    <p:extLst>
      <p:ext uri="{BB962C8B-B14F-4D97-AF65-F5344CB8AC3E}">
        <p14:creationId xmlns:p14="http://schemas.microsoft.com/office/powerpoint/2010/main" val="4075408980"/>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C8EFDBA-3BB5-E4F4-6AA9-1614D059B7DB}"/>
              </a:ext>
            </a:extLst>
          </p:cNvPr>
          <p:cNvSpPr>
            <a:spLocks noGrp="1"/>
          </p:cNvSpPr>
          <p:nvPr>
            <p:ph idx="1"/>
          </p:nvPr>
        </p:nvSpPr>
        <p:spPr>
          <a:xfrm>
            <a:off x="628650" y="476672"/>
            <a:ext cx="8263830" cy="5700291"/>
          </a:xfrm>
        </p:spPr>
        <p:txBody>
          <a:bodyPr/>
          <a:lstStyle/>
          <a:p>
            <a:pPr marR="539115" algn="just">
              <a:lnSpc>
                <a:spcPct val="150000"/>
              </a:lnSpc>
              <a:spcBef>
                <a:spcPts val="935"/>
              </a:spcBef>
              <a:spcAft>
                <a:spcPts val="0"/>
              </a:spcAft>
              <a:buSzPts val="1200"/>
              <a:tabLst>
                <a:tab pos="461645" algn="l"/>
              </a:tabLst>
            </a:pPr>
            <a:r>
              <a:rPr lang="es-ES" sz="2000" spc="0" dirty="0">
                <a:effectLst/>
                <a:latin typeface="Arial" panose="020B0604020202020204" pitchFamily="34" charset="0"/>
                <a:ea typeface="Times New Roman" panose="02020603050405020304" pitchFamily="18" charset="0"/>
                <a:cs typeface="Arial" panose="020B0604020202020204" pitchFamily="34" charset="0"/>
              </a:rPr>
              <a:t>Abstracciones</a:t>
            </a:r>
            <a:r>
              <a:rPr lang="es-ES" sz="2000" spc="-9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de</a:t>
            </a:r>
            <a:r>
              <a:rPr lang="es-ES" sz="2000" spc="-85"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alto</a:t>
            </a:r>
            <a:r>
              <a:rPr lang="es-ES" sz="2000" spc="-9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nivel</a:t>
            </a:r>
            <a:r>
              <a:rPr lang="es-ES" sz="2000" spc="-3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para</a:t>
            </a:r>
            <a:r>
              <a:rPr lang="es-ES" sz="2000" spc="-35"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la</a:t>
            </a:r>
            <a:r>
              <a:rPr lang="es-ES" sz="2000" spc="-3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arquitectura:</a:t>
            </a:r>
            <a:r>
              <a:rPr lang="es-ES" sz="2000" spc="-45"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el</a:t>
            </a:r>
            <a:r>
              <a:rPr lang="es-ES" sz="2000" spc="-45"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módulo</a:t>
            </a:r>
            <a:r>
              <a:rPr lang="es-ES" sz="2000" spc="-45"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err="1">
                <a:effectLst/>
                <a:latin typeface="Arial" panose="020B0604020202020204" pitchFamily="34" charset="0"/>
                <a:ea typeface="Times New Roman" panose="02020603050405020304" pitchFamily="18" charset="0"/>
                <a:cs typeface="Arial" panose="020B0604020202020204" pitchFamily="34" charset="0"/>
              </a:rPr>
              <a:t>torch.nn</a:t>
            </a:r>
            <a:r>
              <a:rPr lang="es-ES" sz="2000" spc="-145"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(en</a:t>
            </a:r>
            <a:r>
              <a:rPr lang="es-ES" sz="2000" spc="-4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particular</a:t>
            </a:r>
            <a:r>
              <a:rPr lang="es-ES" sz="2000" spc="19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err="1">
                <a:effectLst/>
                <a:latin typeface="Arial" panose="020B0604020202020204" pitchFamily="34" charset="0"/>
                <a:ea typeface="Times New Roman" panose="02020603050405020304" pitchFamily="18" charset="0"/>
                <a:cs typeface="Arial" panose="020B0604020202020204" pitchFamily="34" charset="0"/>
              </a:rPr>
              <a:t>nn.Module</a:t>
            </a:r>
            <a:r>
              <a:rPr lang="es-ES" sz="2000" spc="0" dirty="0">
                <a:effectLst/>
                <a:latin typeface="Arial" panose="020B0604020202020204" pitchFamily="34" charset="0"/>
                <a:ea typeface="Times New Roman" panose="02020603050405020304" pitchFamily="18" charset="0"/>
                <a:cs typeface="Arial" panose="020B0604020202020204" pitchFamily="34" charset="0"/>
              </a:rPr>
              <a:t>,</a:t>
            </a:r>
            <a:r>
              <a:rPr lang="es-ES" sz="2000" spc="20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err="1">
                <a:effectLst/>
                <a:latin typeface="Arial" panose="020B0604020202020204" pitchFamily="34" charset="0"/>
                <a:ea typeface="Times New Roman" panose="02020603050405020304" pitchFamily="18" charset="0"/>
                <a:cs typeface="Arial" panose="020B0604020202020204" pitchFamily="34" charset="0"/>
              </a:rPr>
              <a:t>nn.Linear</a:t>
            </a:r>
            <a:r>
              <a:rPr lang="es-ES" sz="2000" spc="0" dirty="0">
                <a:effectLst/>
                <a:latin typeface="Arial" panose="020B0604020202020204" pitchFamily="34" charset="0"/>
                <a:ea typeface="Times New Roman" panose="02020603050405020304" pitchFamily="18" charset="0"/>
                <a:cs typeface="Arial" panose="020B0604020202020204" pitchFamily="34" charset="0"/>
              </a:rPr>
              <a:t>,</a:t>
            </a:r>
            <a:r>
              <a:rPr lang="es-ES" sz="2000" spc="19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err="1">
                <a:effectLst/>
                <a:latin typeface="Arial" panose="020B0604020202020204" pitchFamily="34" charset="0"/>
                <a:ea typeface="Times New Roman" panose="02020603050405020304" pitchFamily="18" charset="0"/>
                <a:cs typeface="Arial" panose="020B0604020202020204" pitchFamily="34" charset="0"/>
              </a:rPr>
              <a:t>nn.Sequential</a:t>
            </a:r>
            <a:r>
              <a:rPr lang="es-ES" sz="2000" spc="0" dirty="0">
                <a:effectLst/>
                <a:latin typeface="Arial" panose="020B0604020202020204" pitchFamily="34" charset="0"/>
                <a:ea typeface="Times New Roman" panose="02020603050405020304" pitchFamily="18" charset="0"/>
                <a:cs typeface="Arial" panose="020B0604020202020204" pitchFamily="34" charset="0"/>
              </a:rPr>
              <a:t>)</a:t>
            </a:r>
            <a:r>
              <a:rPr lang="es-ES" sz="2000" spc="19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permite</a:t>
            </a:r>
            <a:r>
              <a:rPr lang="es-ES" sz="2000" spc="19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declarar</a:t>
            </a:r>
            <a:r>
              <a:rPr lang="es-ES" sz="2000" spc="19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la</a:t>
            </a:r>
            <a:r>
              <a:rPr lang="es-ES" sz="2000" spc="19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arquitectura</a:t>
            </a:r>
            <a:r>
              <a:rPr lang="es-ES" sz="2000" spc="20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de la</a:t>
            </a:r>
            <a:r>
              <a:rPr lang="es-ES" sz="2000" spc="-6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red</a:t>
            </a:r>
            <a:r>
              <a:rPr lang="es-ES" sz="2000" spc="-6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de</a:t>
            </a:r>
            <a:r>
              <a:rPr lang="es-ES" sz="2000" spc="-6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forma</a:t>
            </a:r>
            <a:r>
              <a:rPr lang="es-ES" sz="2000" spc="-6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legible</a:t>
            </a:r>
            <a:r>
              <a:rPr lang="es-ES" sz="2000" spc="-6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y</a:t>
            </a:r>
            <a:r>
              <a:rPr lang="es-ES" sz="2000" spc="-6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modular,</a:t>
            </a:r>
            <a:r>
              <a:rPr lang="es-ES" sz="2000" spc="-6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y</a:t>
            </a:r>
            <a:r>
              <a:rPr lang="es-ES" sz="2000" spc="-6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provee</a:t>
            </a:r>
            <a:r>
              <a:rPr lang="es-ES" sz="2000" spc="-6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automáticamente</a:t>
            </a:r>
            <a:r>
              <a:rPr lang="es-ES" sz="2000" spc="-6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el</a:t>
            </a:r>
            <a:r>
              <a:rPr lang="es-ES" sz="2000" spc="-6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seguimiento</a:t>
            </a:r>
            <a:r>
              <a:rPr lang="es-ES" sz="2000" spc="-6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de</a:t>
            </a:r>
            <a:r>
              <a:rPr lang="es-ES" sz="2000" spc="-6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todos los parámetros </a:t>
            </a:r>
            <a:r>
              <a:rPr lang="es-ES" sz="2000" spc="0" dirty="0" err="1">
                <a:effectLst/>
                <a:latin typeface="Arial" panose="020B0604020202020204" pitchFamily="34" charset="0"/>
                <a:ea typeface="Times New Roman" panose="02020603050405020304" pitchFamily="18" charset="0"/>
                <a:cs typeface="Arial" panose="020B0604020202020204" pitchFamily="34" charset="0"/>
              </a:rPr>
              <a:t>entrenables</a:t>
            </a:r>
            <a:r>
              <a:rPr lang="es-ES" sz="2000" spc="0" dirty="0">
                <a:effectLst/>
                <a:latin typeface="Arial" panose="020B0604020202020204" pitchFamily="34" charset="0"/>
                <a:ea typeface="Times New Roman" panose="02020603050405020304" pitchFamily="18" charset="0"/>
                <a:cs typeface="Arial" panose="020B0604020202020204" pitchFamily="34" charset="0"/>
              </a:rPr>
              <a:t>, necesario para que el optimizador pueda actualizarlos.</a:t>
            </a:r>
          </a:p>
          <a:p>
            <a:pPr marR="539115" algn="just">
              <a:lnSpc>
                <a:spcPct val="150000"/>
              </a:lnSpc>
              <a:spcBef>
                <a:spcPts val="935"/>
              </a:spcBef>
              <a:spcAft>
                <a:spcPts val="0"/>
              </a:spcAft>
              <a:buSzPts val="1200"/>
              <a:tabLst>
                <a:tab pos="461645" algn="l"/>
              </a:tabLst>
            </a:pPr>
            <a:r>
              <a:rPr lang="es-ES" sz="2000" spc="0" dirty="0">
                <a:effectLst/>
                <a:latin typeface="Arial" panose="020B0604020202020204" pitchFamily="34" charset="0"/>
                <a:ea typeface="Times New Roman" panose="02020603050405020304" pitchFamily="18" charset="0"/>
                <a:cs typeface="Arial" panose="020B0604020202020204" pitchFamily="34" charset="0"/>
              </a:rPr>
              <a:t>Optimizadores</a:t>
            </a:r>
            <a:r>
              <a:rPr lang="es-ES" sz="2000" spc="-4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estándar</a:t>
            </a:r>
            <a:r>
              <a:rPr lang="es-ES" sz="2000" spc="-4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incluidos:</a:t>
            </a:r>
            <a:r>
              <a:rPr lang="es-ES" sz="2000" spc="-45"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se</a:t>
            </a:r>
            <a:r>
              <a:rPr lang="es-ES" sz="2000" spc="-45"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utilizó</a:t>
            </a:r>
            <a:r>
              <a:rPr lang="es-ES" sz="2000" spc="-50"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el</a:t>
            </a:r>
            <a:r>
              <a:rPr lang="es-ES" sz="2000" spc="-45"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optimizador</a:t>
            </a:r>
            <a:r>
              <a:rPr lang="es-ES" sz="2000" spc="-45"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Adam</a:t>
            </a:r>
            <a:r>
              <a:rPr lang="es-ES" sz="2000" spc="-45" dirty="0">
                <a:effectLst/>
                <a:latin typeface="Arial" panose="020B0604020202020204" pitchFamily="34" charset="0"/>
                <a:ea typeface="Times New Roman" panose="02020603050405020304" pitchFamily="18" charset="0"/>
                <a:cs typeface="Arial" panose="020B0604020202020204" pitchFamily="34" charset="0"/>
              </a:rPr>
              <a:t> </a:t>
            </a:r>
            <a:r>
              <a:rPr lang="es-ES" sz="2000" spc="0" dirty="0">
                <a:effectLst/>
                <a:latin typeface="Arial" panose="020B0604020202020204" pitchFamily="34" charset="0"/>
                <a:ea typeface="Times New Roman" panose="02020603050405020304" pitchFamily="18" charset="0"/>
                <a:cs typeface="Arial" panose="020B0604020202020204" pitchFamily="34" charset="0"/>
              </a:rPr>
              <a:t>(</a:t>
            </a:r>
            <a:r>
              <a:rPr lang="es-ES" sz="2000" spc="0" dirty="0" err="1">
                <a:effectLst/>
                <a:latin typeface="Arial" panose="020B0604020202020204" pitchFamily="34" charset="0"/>
                <a:ea typeface="Times New Roman" panose="02020603050405020304" pitchFamily="18" charset="0"/>
                <a:cs typeface="Arial" panose="020B0604020202020204" pitchFamily="34" charset="0"/>
              </a:rPr>
              <a:t>torch.optim.Adam</a:t>
            </a:r>
            <a:r>
              <a:rPr lang="es-ES" sz="2000" spc="0" dirty="0">
                <a:effectLst/>
                <a:latin typeface="Arial" panose="020B0604020202020204" pitchFamily="34" charset="0"/>
                <a:ea typeface="Times New Roman" panose="02020603050405020304" pitchFamily="18" charset="0"/>
                <a:cs typeface="Arial" panose="020B0604020202020204" pitchFamily="34" charset="0"/>
              </a:rPr>
              <a:t>), incluido nativamente en el </a:t>
            </a:r>
            <a:r>
              <a:rPr lang="es-ES" sz="2000" spc="0" dirty="0" err="1">
                <a:effectLst/>
                <a:latin typeface="Arial" panose="020B0604020202020204" pitchFamily="34" charset="0"/>
                <a:ea typeface="Times New Roman" panose="02020603050405020304" pitchFamily="18" charset="0"/>
                <a:cs typeface="Arial" panose="020B0604020202020204" pitchFamily="34" charset="0"/>
              </a:rPr>
              <a:t>framework</a:t>
            </a:r>
            <a:r>
              <a:rPr lang="es-ES" sz="2000" spc="0" dirty="0">
                <a:effectLst/>
                <a:latin typeface="Arial" panose="020B0604020202020204" pitchFamily="34" charset="0"/>
                <a:ea typeface="Times New Roman" panose="02020603050405020304" pitchFamily="18" charset="0"/>
                <a:cs typeface="Arial" panose="020B0604020202020204" pitchFamily="34" charset="0"/>
              </a:rPr>
              <a:t>, el cual ajusta de forma adaptativa la tasa de aprendizaje de cada parámetro durante el entrenamiento.</a:t>
            </a:r>
            <a:endParaRPr lang="es-MX" sz="2000" spc="0" dirty="0">
              <a:effectLst/>
              <a:latin typeface="Arial" panose="020B0604020202020204" pitchFamily="34" charset="0"/>
              <a:ea typeface="Times New Roman" panose="02020603050405020304" pitchFamily="18" charset="0"/>
              <a:cs typeface="Arial" panose="020B0604020202020204" pitchFamily="34" charset="0"/>
            </a:endParaRPr>
          </a:p>
          <a:p>
            <a:endParaRPr lang="es-ES" dirty="0"/>
          </a:p>
        </p:txBody>
      </p:sp>
    </p:spTree>
    <p:extLst>
      <p:ext uri="{BB962C8B-B14F-4D97-AF65-F5344CB8AC3E}">
        <p14:creationId xmlns:p14="http://schemas.microsoft.com/office/powerpoint/2010/main" val="213990548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042B96F-9424-63D0-3B83-A6B5CCB7CE79}"/>
              </a:ext>
            </a:extLst>
          </p:cNvPr>
          <p:cNvSpPr>
            <a:spLocks noGrp="1"/>
          </p:cNvSpPr>
          <p:nvPr>
            <p:ph idx="1"/>
          </p:nvPr>
        </p:nvSpPr>
        <p:spPr/>
        <p:txBody>
          <a:bodyPr/>
          <a:lstStyle/>
          <a:p>
            <a:endParaRPr lang="es-ES"/>
          </a:p>
        </p:txBody>
      </p:sp>
      <p:pic>
        <p:nvPicPr>
          <p:cNvPr id="5" name="Imagen 4">
            <a:extLst>
              <a:ext uri="{FF2B5EF4-FFF2-40B4-BE49-F238E27FC236}">
                <a16:creationId xmlns:a16="http://schemas.microsoft.com/office/drawing/2014/main" id="{ACE67506-C3F5-0423-7949-A33BC229D3D2}"/>
              </a:ext>
            </a:extLst>
          </p:cNvPr>
          <p:cNvPicPr>
            <a:picLocks noChangeAspect="1"/>
          </p:cNvPicPr>
          <p:nvPr/>
        </p:nvPicPr>
        <p:blipFill>
          <a:blip r:embed="rId2"/>
          <a:stretch>
            <a:fillRect/>
          </a:stretch>
        </p:blipFill>
        <p:spPr>
          <a:xfrm>
            <a:off x="45927" y="1443202"/>
            <a:ext cx="9052146" cy="3971596"/>
          </a:xfrm>
          <a:prstGeom prst="rect">
            <a:avLst/>
          </a:prstGeom>
        </p:spPr>
      </p:pic>
    </p:spTree>
    <p:extLst>
      <p:ext uri="{BB962C8B-B14F-4D97-AF65-F5344CB8AC3E}">
        <p14:creationId xmlns:p14="http://schemas.microsoft.com/office/powerpoint/2010/main" val="2938647742"/>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F5FB9E-00F7-E30C-4506-AC08A48A7E66}"/>
              </a:ext>
            </a:extLst>
          </p:cNvPr>
          <p:cNvSpPr>
            <a:spLocks noGrp="1"/>
          </p:cNvSpPr>
          <p:nvPr>
            <p:ph type="title"/>
          </p:nvPr>
        </p:nvSpPr>
        <p:spPr/>
        <p:txBody>
          <a:bodyPr/>
          <a:lstStyle/>
          <a:p>
            <a:endParaRPr lang="es-ES" dirty="0"/>
          </a:p>
        </p:txBody>
      </p:sp>
      <p:pic>
        <p:nvPicPr>
          <p:cNvPr id="5" name="Marcador de contenido 4">
            <a:extLst>
              <a:ext uri="{FF2B5EF4-FFF2-40B4-BE49-F238E27FC236}">
                <a16:creationId xmlns:a16="http://schemas.microsoft.com/office/drawing/2014/main" id="{043B20B3-6924-FFA1-ACBF-429F2C280999}"/>
              </a:ext>
            </a:extLst>
          </p:cNvPr>
          <p:cNvPicPr>
            <a:picLocks noGrp="1" noChangeAspect="1"/>
          </p:cNvPicPr>
          <p:nvPr>
            <p:ph idx="1"/>
          </p:nvPr>
        </p:nvPicPr>
        <p:blipFill>
          <a:blip r:embed="rId2"/>
          <a:stretch>
            <a:fillRect/>
          </a:stretch>
        </p:blipFill>
        <p:spPr>
          <a:xfrm>
            <a:off x="55871" y="814701"/>
            <a:ext cx="9032257" cy="5228597"/>
          </a:xfrm>
        </p:spPr>
      </p:pic>
    </p:spTree>
    <p:extLst>
      <p:ext uri="{BB962C8B-B14F-4D97-AF65-F5344CB8AC3E}">
        <p14:creationId xmlns:p14="http://schemas.microsoft.com/office/powerpoint/2010/main" val="40407182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D4694AA-77A2-9CBA-E5AF-33D04F660CA5}"/>
              </a:ext>
            </a:extLst>
          </p:cNvPr>
          <p:cNvPicPr>
            <a:picLocks noChangeAspect="1"/>
          </p:cNvPicPr>
          <p:nvPr/>
        </p:nvPicPr>
        <p:blipFill>
          <a:blip r:embed="rId2"/>
          <a:stretch>
            <a:fillRect/>
          </a:stretch>
        </p:blipFill>
        <p:spPr>
          <a:xfrm>
            <a:off x="1010744" y="30184"/>
            <a:ext cx="7122511" cy="6795290"/>
          </a:xfrm>
          <a:prstGeom prst="rect">
            <a:avLst/>
          </a:prstGeom>
        </p:spPr>
      </p:pic>
    </p:spTree>
    <p:extLst>
      <p:ext uri="{BB962C8B-B14F-4D97-AF65-F5344CB8AC3E}">
        <p14:creationId xmlns:p14="http://schemas.microsoft.com/office/powerpoint/2010/main" val="3172782821"/>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83ECB8-D28E-68E0-A04A-130F41790270}"/>
              </a:ext>
            </a:extLst>
          </p:cNvPr>
          <p:cNvSpPr>
            <a:spLocks noGrp="1"/>
          </p:cNvSpPr>
          <p:nvPr>
            <p:ph type="title"/>
          </p:nvPr>
        </p:nvSpPr>
        <p:spPr>
          <a:xfrm>
            <a:off x="323528" y="260648"/>
            <a:ext cx="5167486" cy="615603"/>
          </a:xfrm>
        </p:spPr>
        <p:txBody>
          <a:bodyPr/>
          <a:lstStyle/>
          <a:p>
            <a:r>
              <a:rPr lang="es-ES" sz="3200" b="1" dirty="0">
                <a:latin typeface="Arial" panose="020B0604020202020204" pitchFamily="34" charset="0"/>
                <a:cs typeface="Arial" panose="020B0604020202020204" pitchFamily="34" charset="0"/>
              </a:rPr>
              <a:t>Limitaciones del Sistema</a:t>
            </a:r>
          </a:p>
        </p:txBody>
      </p:sp>
      <p:sp>
        <p:nvSpPr>
          <p:cNvPr id="3" name="Marcador de contenido 2">
            <a:extLst>
              <a:ext uri="{FF2B5EF4-FFF2-40B4-BE49-F238E27FC236}">
                <a16:creationId xmlns:a16="http://schemas.microsoft.com/office/drawing/2014/main" id="{28448BBE-3BE1-F93F-B2C9-0BC75867E4D2}"/>
              </a:ext>
            </a:extLst>
          </p:cNvPr>
          <p:cNvSpPr>
            <a:spLocks noGrp="1"/>
          </p:cNvSpPr>
          <p:nvPr>
            <p:ph idx="1"/>
          </p:nvPr>
        </p:nvSpPr>
        <p:spPr>
          <a:xfrm>
            <a:off x="179512" y="876250"/>
            <a:ext cx="8640960" cy="5505077"/>
          </a:xfrm>
        </p:spPr>
        <p:txBody>
          <a:bodyPr/>
          <a:lstStyle/>
          <a:p>
            <a:pPr algn="just">
              <a:lnSpc>
                <a:spcPct val="150000"/>
              </a:lnSpc>
            </a:pPr>
            <a:r>
              <a:rPr lang="es-ES" sz="2000" dirty="0">
                <a:effectLst/>
                <a:latin typeface="Arial" panose="020B0604020202020204" pitchFamily="34" charset="0"/>
                <a:ea typeface="Times New Roman" panose="02020603050405020304" pitchFamily="18" charset="0"/>
                <a:cs typeface="Arial" panose="020B0604020202020204" pitchFamily="34" charset="0"/>
              </a:rPr>
              <a:t>Tamaño</a:t>
            </a:r>
            <a:r>
              <a:rPr lang="es-ES" sz="2000" spc="-9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de</a:t>
            </a:r>
            <a:r>
              <a:rPr lang="es-ES" sz="2000" spc="-9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matriz</a:t>
            </a:r>
            <a:r>
              <a:rPr lang="es-ES" sz="2000" spc="200" dirty="0">
                <a:effectLst/>
                <a:latin typeface="Arial" panose="020B0604020202020204" pitchFamily="34" charset="0"/>
                <a:ea typeface="Times New Roman" panose="02020603050405020304" pitchFamily="18" charset="0"/>
                <a:cs typeface="Arial" panose="020B0604020202020204" pitchFamily="34" charset="0"/>
              </a:rPr>
              <a:t> fijo</a:t>
            </a:r>
            <a:r>
              <a:rPr lang="es-ES" sz="2000" spc="200" dirty="0">
                <a:latin typeface="Arial" panose="020B0604020202020204" pitchFamily="34" charset="0"/>
                <a:ea typeface="Times New Roman" panose="02020603050405020304" pitchFamily="18" charset="0"/>
                <a:cs typeface="Arial" panose="020B0604020202020204" pitchFamily="34" charset="0"/>
              </a:rPr>
              <a:t>:</a:t>
            </a:r>
            <a:r>
              <a:rPr lang="es-ES" sz="2000" spc="-9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La</a:t>
            </a:r>
            <a:r>
              <a:rPr lang="es-ES" sz="2000" spc="-8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arquitectura</a:t>
            </a:r>
            <a:r>
              <a:rPr lang="es-ES" sz="2000" spc="-8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fue</a:t>
            </a:r>
            <a:r>
              <a:rPr lang="es-ES" sz="2000" spc="-8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diseñada</a:t>
            </a:r>
            <a:r>
              <a:rPr lang="es-ES" sz="2000" spc="-8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específicamente</a:t>
            </a:r>
            <a:r>
              <a:rPr lang="es-ES" sz="2000" spc="-8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para</a:t>
            </a:r>
            <a:r>
              <a:rPr lang="es-ES" sz="2000" spc="-8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matrices</a:t>
            </a:r>
            <a:r>
              <a:rPr lang="es-ES" sz="2000" spc="-8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de</a:t>
            </a:r>
            <a:r>
              <a:rPr lang="es-ES" sz="2000" spc="-8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4</a:t>
            </a:r>
            <a:r>
              <a:rPr lang="es-ES" sz="2000" spc="40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4</a:t>
            </a:r>
            <a:r>
              <a:rPr lang="es-ES" sz="2000" spc="-7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(16</a:t>
            </a:r>
            <a:r>
              <a:rPr lang="es-ES" sz="2000" spc="-8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entradas/salidas);</a:t>
            </a:r>
            <a:r>
              <a:rPr lang="es-ES" sz="2000" spc="-8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extenderla</a:t>
            </a:r>
            <a:r>
              <a:rPr lang="es-ES" sz="2000" spc="-8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a</a:t>
            </a:r>
            <a:r>
              <a:rPr lang="es-ES" sz="2000" spc="-8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otros</a:t>
            </a:r>
            <a:r>
              <a:rPr lang="es-ES" sz="2000" spc="-8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tamaños</a:t>
            </a:r>
            <a:r>
              <a:rPr lang="es-ES" sz="2000" spc="-8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requeriría</a:t>
            </a:r>
            <a:r>
              <a:rPr lang="es-ES" sz="2000" spc="-8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reentrenar una red con una arquitectura distinta.</a:t>
            </a:r>
          </a:p>
          <a:p>
            <a:pPr algn="just">
              <a:lnSpc>
                <a:spcPct val="150000"/>
              </a:lnSpc>
            </a:pPr>
            <a:r>
              <a:rPr lang="es-ES" sz="2000" dirty="0">
                <a:effectLst/>
                <a:latin typeface="Arial" panose="020B0604020202020204" pitchFamily="34" charset="0"/>
                <a:ea typeface="Times New Roman" panose="02020603050405020304" pitchFamily="18" charset="0"/>
                <a:cs typeface="Arial" panose="020B0604020202020204" pitchFamily="34" charset="0"/>
              </a:rPr>
              <a:t>Dominio de validación acotado: El sistema fue evaluado para matrices con número</a:t>
            </a:r>
            <a:r>
              <a:rPr lang="es-ES" sz="2000" spc="-5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de</a:t>
            </a:r>
            <a:r>
              <a:rPr lang="es-ES" sz="2000" spc="-5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condición</a:t>
            </a:r>
            <a:r>
              <a:rPr lang="es-ES" sz="2000" spc="-5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de</a:t>
            </a:r>
            <a:r>
              <a:rPr lang="es-ES" sz="2000" spc="-5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hasta</a:t>
            </a:r>
            <a:r>
              <a:rPr lang="es-ES" sz="2000" spc="-5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50.</a:t>
            </a:r>
            <a:r>
              <a:rPr lang="es-ES" sz="2000" spc="-5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Matrices</a:t>
            </a:r>
            <a:r>
              <a:rPr lang="es-ES" sz="2000" spc="-5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con</a:t>
            </a:r>
            <a:r>
              <a:rPr lang="es-ES" sz="2000" spc="-5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condicionamiento</a:t>
            </a:r>
            <a:r>
              <a:rPr lang="es-ES" sz="2000" spc="-5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extremadamente</a:t>
            </a:r>
            <a:r>
              <a:rPr lang="es-ES" sz="2000" spc="-5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alto (cercanas a la singularidad) no fueron evaluadas.</a:t>
            </a:r>
          </a:p>
          <a:p>
            <a:pPr algn="just">
              <a:lnSpc>
                <a:spcPct val="150000"/>
              </a:lnSpc>
            </a:pPr>
            <a:r>
              <a:rPr lang="es-ES" sz="2000" dirty="0">
                <a:effectLst/>
                <a:latin typeface="Arial" panose="020B0604020202020204" pitchFamily="34" charset="0"/>
                <a:ea typeface="Times New Roman" panose="02020603050405020304" pitchFamily="18" charset="0"/>
                <a:cs typeface="Arial" panose="020B0604020202020204" pitchFamily="34" charset="0"/>
              </a:rPr>
              <a:t>Matrices densas, no estructuradas: El conjunto de entrenamiento se generó mediante muestreo aleatorio denso (</a:t>
            </a:r>
            <a:r>
              <a:rPr lang="es-ES" sz="2000" dirty="0" err="1">
                <a:effectLst/>
                <a:latin typeface="Arial" panose="020B0604020202020204" pitchFamily="34" charset="0"/>
                <a:ea typeface="Times New Roman" panose="02020603050405020304" pitchFamily="18" charset="0"/>
                <a:cs typeface="Arial" panose="020B0604020202020204" pitchFamily="34" charset="0"/>
              </a:rPr>
              <a:t>torch.randn</a:t>
            </a:r>
            <a:r>
              <a:rPr lang="es-ES" sz="2000" dirty="0">
                <a:effectLst/>
                <a:latin typeface="Arial" panose="020B0604020202020204" pitchFamily="34" charset="0"/>
                <a:ea typeface="Times New Roman" panose="02020603050405020304" pitchFamily="18" charset="0"/>
                <a:cs typeface="Arial" panose="020B0604020202020204" pitchFamily="34" charset="0"/>
              </a:rPr>
              <a:t>); el comportamiento del sistema sobre</a:t>
            </a:r>
            <a:r>
              <a:rPr lang="es-ES" sz="2000" spc="-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matrices</a:t>
            </a:r>
            <a:r>
              <a:rPr lang="es-ES" sz="2000" spc="-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con</a:t>
            </a:r>
            <a:r>
              <a:rPr lang="es-ES" sz="2000" spc="-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estructura</a:t>
            </a:r>
            <a:r>
              <a:rPr lang="es-ES" sz="2000" spc="-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particular</a:t>
            </a:r>
            <a:r>
              <a:rPr lang="es-ES" sz="2000" spc="-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(por</a:t>
            </a:r>
            <a:r>
              <a:rPr lang="es-ES" sz="2000" spc="-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ejemplo,</a:t>
            </a:r>
            <a:r>
              <a:rPr lang="es-ES" sz="2000" spc="-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matrices</a:t>
            </a:r>
            <a:r>
              <a:rPr lang="es-ES" sz="2000" spc="-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con</a:t>
            </a:r>
            <a:r>
              <a:rPr lang="es-ES" sz="2000" spc="-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muchos</a:t>
            </a:r>
            <a:r>
              <a:rPr lang="es-ES" sz="2000" spc="-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elementos nulos) no fue evaluado de forma especí</a:t>
            </a:r>
            <a:r>
              <a:rPr lang="es-ES" sz="2000" dirty="0">
                <a:latin typeface="Arial" panose="020B0604020202020204" pitchFamily="34" charset="0"/>
                <a:ea typeface="Times New Roman" panose="02020603050405020304" pitchFamily="18" charset="0"/>
                <a:cs typeface="Arial" panose="020B0604020202020204" pitchFamily="34" charset="0"/>
              </a:rPr>
              <a:t>ficas.</a:t>
            </a:r>
            <a:endParaRPr lang="es-E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05366689"/>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F20007-FF81-4553-9550-2330D36D1E74}"/>
              </a:ext>
            </a:extLst>
          </p:cNvPr>
          <p:cNvSpPr>
            <a:spLocks noGrp="1"/>
          </p:cNvSpPr>
          <p:nvPr>
            <p:ph type="title"/>
          </p:nvPr>
        </p:nvSpPr>
        <p:spPr>
          <a:xfrm>
            <a:off x="628650" y="365125"/>
            <a:ext cx="2935238" cy="543595"/>
          </a:xfrm>
        </p:spPr>
        <p:txBody>
          <a:bodyPr/>
          <a:lstStyle/>
          <a:p>
            <a:r>
              <a:rPr lang="es-ES" sz="3200" b="1" dirty="0">
                <a:latin typeface="Arial" panose="020B0604020202020204" pitchFamily="34" charset="0"/>
                <a:cs typeface="Arial" panose="020B0604020202020204" pitchFamily="34" charset="0"/>
              </a:rPr>
              <a:t>Conclusión</a:t>
            </a:r>
          </a:p>
        </p:txBody>
      </p:sp>
      <p:sp>
        <p:nvSpPr>
          <p:cNvPr id="3" name="Marcador de contenido 2">
            <a:extLst>
              <a:ext uri="{FF2B5EF4-FFF2-40B4-BE49-F238E27FC236}">
                <a16:creationId xmlns:a16="http://schemas.microsoft.com/office/drawing/2014/main" id="{0D9E6FF9-AC28-9655-A1C3-BFF78E8DB8D6}"/>
              </a:ext>
            </a:extLst>
          </p:cNvPr>
          <p:cNvSpPr>
            <a:spLocks noGrp="1"/>
          </p:cNvSpPr>
          <p:nvPr>
            <p:ph idx="1"/>
          </p:nvPr>
        </p:nvSpPr>
        <p:spPr>
          <a:xfrm>
            <a:off x="323528" y="911730"/>
            <a:ext cx="8424936" cy="4893534"/>
          </a:xfrm>
        </p:spPr>
        <p:txBody>
          <a:bodyPr/>
          <a:lstStyle/>
          <a:p>
            <a:pPr marL="0" indent="0" algn="just">
              <a:lnSpc>
                <a:spcPct val="150000"/>
              </a:lnSpc>
              <a:buNone/>
            </a:pPr>
            <a:r>
              <a:rPr lang="es-ES" sz="2000" dirty="0">
                <a:effectLst/>
                <a:latin typeface="Arial" panose="020B0604020202020204" pitchFamily="34" charset="0"/>
                <a:ea typeface="Times New Roman" panose="02020603050405020304" pitchFamily="18" charset="0"/>
                <a:cs typeface="Arial" panose="020B0604020202020204" pitchFamily="34" charset="0"/>
              </a:rPr>
              <a:t>El proyecto demuestra que es posible construir un sistema confiable para la inversión numérica</a:t>
            </a:r>
            <a:r>
              <a:rPr lang="es-ES" sz="2000" spc="-4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de</a:t>
            </a:r>
            <a:r>
              <a:rPr lang="es-ES" sz="2000" spc="-4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matrices</a:t>
            </a:r>
            <a:r>
              <a:rPr lang="es-ES" sz="2000" spc="-4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combinando</a:t>
            </a:r>
            <a:r>
              <a:rPr lang="es-ES" sz="2000" spc="-4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un</a:t>
            </a:r>
            <a:r>
              <a:rPr lang="es-ES" sz="2000" spc="-4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componente</a:t>
            </a:r>
            <a:r>
              <a:rPr lang="es-ES" sz="2000" spc="-4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de</a:t>
            </a:r>
            <a:r>
              <a:rPr lang="es-ES" sz="2000" spc="-4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aprendizaje</a:t>
            </a:r>
            <a:r>
              <a:rPr lang="es-ES" sz="2000" spc="-4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automático</a:t>
            </a:r>
            <a:r>
              <a:rPr lang="es-ES" sz="2000" spc="-4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con</a:t>
            </a:r>
            <a:r>
              <a:rPr lang="es-ES" sz="2000" spc="-4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métodos algebraicos clásicos, sin que ninguno de los dos enfoques, por separado, sea su</a:t>
            </a:r>
            <a:r>
              <a:rPr lang="es-ES" sz="2000" spc="-2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cliente: la red</a:t>
            </a:r>
            <a:r>
              <a:rPr lang="es-ES" sz="2000" spc="-2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neuronal,</a:t>
            </a:r>
            <a:r>
              <a:rPr lang="es-ES" sz="2000" spc="-2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evaluada</a:t>
            </a:r>
            <a:r>
              <a:rPr lang="es-ES" sz="2000" spc="-2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de</a:t>
            </a:r>
            <a:r>
              <a:rPr lang="es-ES" sz="2000" spc="-2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forma</a:t>
            </a:r>
            <a:r>
              <a:rPr lang="es-ES" sz="2000" spc="-2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aislada,</a:t>
            </a:r>
            <a:r>
              <a:rPr lang="es-ES" sz="2000" spc="-15"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mostró</a:t>
            </a:r>
            <a:r>
              <a:rPr lang="es-ES" sz="2000" spc="-2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limitaciones</a:t>
            </a:r>
            <a:r>
              <a:rPr lang="es-ES" sz="2000" spc="-2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reales</a:t>
            </a:r>
            <a:r>
              <a:rPr lang="es-ES" sz="2000" spc="-2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de</a:t>
            </a:r>
            <a:r>
              <a:rPr lang="es-ES" sz="2000" spc="-2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precisión</a:t>
            </a:r>
            <a:r>
              <a:rPr lang="es-ES" sz="2000" spc="-2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y</a:t>
            </a:r>
            <a:r>
              <a:rPr lang="es-ES" sz="2000" spc="-20" dirty="0">
                <a:effectLst/>
                <a:latin typeface="Arial" panose="020B0604020202020204" pitchFamily="34" charset="0"/>
                <a:ea typeface="Times New Roman" panose="02020603050405020304" pitchFamily="18" charset="0"/>
                <a:cs typeface="Arial" panose="020B0604020202020204" pitchFamily="34" charset="0"/>
              </a:rPr>
              <a:t> </a:t>
            </a:r>
            <a:r>
              <a:rPr lang="es-ES" sz="2000" dirty="0">
                <a:effectLst/>
                <a:latin typeface="Arial" panose="020B0604020202020204" pitchFamily="34" charset="0"/>
                <a:ea typeface="Times New Roman" panose="02020603050405020304" pitchFamily="18" charset="0"/>
                <a:cs typeface="Arial" panose="020B0604020202020204" pitchFamily="34" charset="0"/>
              </a:rPr>
              <a:t>generalización; los métodos puramente algebraicos de inicialización, aunque siempre con</a:t>
            </a:r>
            <a:r>
              <a:rPr lang="es-ES" sz="2000" spc="-35" dirty="0">
                <a:latin typeface="Arial" panose="020B0604020202020204" pitchFamily="34" charset="0"/>
                <a:ea typeface="Times New Roman" panose="02020603050405020304" pitchFamily="18" charset="0"/>
                <a:cs typeface="Arial" panose="020B0604020202020204" pitchFamily="34" charset="0"/>
              </a:rPr>
              <a:t>fi</a:t>
            </a:r>
            <a:r>
              <a:rPr lang="es-ES" sz="2000" dirty="0">
                <a:effectLst/>
                <a:latin typeface="Arial" panose="020B0604020202020204" pitchFamily="34" charset="0"/>
                <a:ea typeface="Times New Roman" panose="02020603050405020304" pitchFamily="18" charset="0"/>
                <a:cs typeface="Arial" panose="020B0604020202020204" pitchFamily="34" charset="0"/>
              </a:rPr>
              <a:t>ables, no aprovechan ningún patrón aprendido de los datos. La arquitectura híbrida</a:t>
            </a:r>
            <a:r>
              <a:rPr lang="es-ES" sz="2000" spc="200" dirty="0">
                <a:latin typeface="Arial" panose="020B0604020202020204" pitchFamily="34" charset="0"/>
                <a:ea typeface="Times New Roman" panose="02020603050405020304" pitchFamily="18" charset="0"/>
                <a:cs typeface="Arial" panose="020B0604020202020204" pitchFamily="34" charset="0"/>
              </a:rPr>
              <a:t> fi</a:t>
            </a:r>
            <a:r>
              <a:rPr lang="es-ES" sz="2000" dirty="0">
                <a:effectLst/>
                <a:latin typeface="Arial" panose="020B0604020202020204" pitchFamily="34" charset="0"/>
                <a:ea typeface="Times New Roman" panose="02020603050405020304" pitchFamily="18" charset="0"/>
                <a:cs typeface="Arial" panose="020B0604020202020204" pitchFamily="34" charset="0"/>
              </a:rPr>
              <a:t>nal integra ambas perspectivas, alcanzando una precisión consistente y matemáticamente respaldada en la totalidad de los casos evaluados.</a:t>
            </a:r>
            <a:endParaRPr lang="es-MX" sz="2000" dirty="0">
              <a:effectLst/>
              <a:latin typeface="Arial" panose="020B0604020202020204" pitchFamily="34" charset="0"/>
              <a:ea typeface="Times New Roman" panose="02020603050405020304" pitchFamily="18" charset="0"/>
              <a:cs typeface="Arial" panose="020B0604020202020204" pitchFamily="34" charset="0"/>
            </a:endParaRPr>
          </a:p>
          <a:p>
            <a:endParaRPr lang="es-ES" dirty="0"/>
          </a:p>
        </p:txBody>
      </p:sp>
    </p:spTree>
    <p:extLst>
      <p:ext uri="{BB962C8B-B14F-4D97-AF65-F5344CB8AC3E}">
        <p14:creationId xmlns:p14="http://schemas.microsoft.com/office/powerpoint/2010/main" val="3318647613"/>
      </p:ext>
    </p:extLst>
  </p:cSld>
  <p:clrMapOvr>
    <a:masterClrMapping/>
  </p:clrMapOvr>
  <p:transition/>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e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185</TotalTime>
  <Words>1839</Words>
  <Application>Microsoft Office PowerPoint</Application>
  <PresentationFormat>Presentación en pantalla (4:3)</PresentationFormat>
  <Paragraphs>67</Paragraphs>
  <Slides>21</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21</vt:i4>
      </vt:variant>
    </vt:vector>
  </HeadingPairs>
  <TitlesOfParts>
    <vt:vector size="27" baseType="lpstr">
      <vt:lpstr>Arial</vt:lpstr>
      <vt:lpstr>Calibri</vt:lpstr>
      <vt:lpstr>Calibri Light</vt:lpstr>
      <vt:lpstr>Lucida Sans Unicode</vt:lpstr>
      <vt:lpstr>Times New Roman</vt:lpstr>
      <vt:lpstr>Tema de Office</vt:lpstr>
      <vt:lpstr>                                                                           INVERSOR DE MATRICES MEDIANTE RED NEURONAL Y REFINAMIENTO ALGEBRAICO </vt:lpstr>
      <vt:lpstr>INTRODUCCIÓN</vt:lpstr>
      <vt:lpstr>PROBLEMÁTICA</vt:lpstr>
      <vt:lpstr>Fases del proyecto</vt:lpstr>
      <vt:lpstr>Presentación de PowerPoint</vt:lpstr>
      <vt:lpstr>Presentación de PowerPoint</vt:lpstr>
      <vt:lpstr>Presentación de PowerPoint</vt:lpstr>
      <vt:lpstr>Entonces la solución seleccionada fue:</vt:lpstr>
      <vt:lpstr>Presentación de PowerPoint</vt:lpstr>
      <vt:lpstr>FUNDAMENTO MATEMÁTICO</vt:lpstr>
      <vt:lpstr>Presentación de PowerPoint</vt:lpstr>
      <vt:lpstr>Cantidad de Neuronas y Capas</vt:lpstr>
      <vt:lpstr>Tipo de Enlace entre Neuronas</vt:lpstr>
      <vt:lpstr>IMPLEMENTACIÓN</vt:lpstr>
      <vt:lpstr>Framework</vt:lpstr>
      <vt:lpstr>Presentación de PowerPoint</vt:lpstr>
      <vt:lpstr>Presentación de PowerPoint</vt:lpstr>
      <vt:lpstr>Presentación de PowerPoint</vt:lpstr>
      <vt:lpstr>Presentación de PowerPoint</vt:lpstr>
      <vt:lpstr>Limitaciones del Sistema</vt:lpstr>
      <vt:lpstr>Conclusión</vt:lpstr>
    </vt:vector>
  </TitlesOfParts>
  <Company>COPEXTEL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SERVIMATICA</dc:creator>
  <cp:lastModifiedBy>ernesto2312jqh@gmail.com</cp:lastModifiedBy>
  <cp:revision>729</cp:revision>
  <cp:lastPrinted>2020-10-20T13:35:55Z</cp:lastPrinted>
  <dcterms:created xsi:type="dcterms:W3CDTF">2008-01-11T04:11:39Z</dcterms:created>
  <dcterms:modified xsi:type="dcterms:W3CDTF">2026-06-25T01:34:36Z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B927B86D82184EACAA470DCC4A5D0AEA_13</vt:lpwstr>
  </property>
  <property fmtid="{D5CDD505-2E9C-101B-9397-08002B2CF9AE}" pid="3" name="KSOProductBuildVer">
    <vt:lpwstr>3082-12.2.0.23131</vt:lpwstr>
  </property>
</Properties>
</file>